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d5dedef6e44136" /><Relationship Type="http://schemas.openxmlformats.org/officeDocument/2006/relationships/extended-properties" Target="/docProps/app.xml" Id="Rdbe254dab4124294" /><Relationship Type="http://schemas.openxmlformats.org/officeDocument/2006/relationships/officeDocument" Target="/ppt/presentation.xml" Id="R36b86a99ba5549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a1bd6927ef4e7b"/>
  </p:sldMasterIdLst>
  <p:notesMasterIdLst>
    <p:notesMasterId xmlns:r="http://schemas.openxmlformats.org/officeDocument/2006/relationships" r:id="R0e555dbc839c49d2"/>
  </p:notesMasterIdLst>
  <p:sldIdLst>
    <p:sldId xmlns:r="http://schemas.openxmlformats.org/officeDocument/2006/relationships" id="256" r:id="R97cb5da426ea4f1f"/>
    <p:sldId xmlns:r="http://schemas.openxmlformats.org/officeDocument/2006/relationships" id="257" r:id="Rd801ab9a59ea4d3d"/>
    <p:sldId xmlns:r="http://schemas.openxmlformats.org/officeDocument/2006/relationships" id="258" r:id="R7ae3a19a3053416a"/>
    <p:sldId xmlns:r="http://schemas.openxmlformats.org/officeDocument/2006/relationships" id="259" r:id="R25116aff95d04fa6"/>
    <p:sldId xmlns:r="http://schemas.openxmlformats.org/officeDocument/2006/relationships" id="260" r:id="R05b5088cd7ca4af3"/>
    <p:sldId xmlns:r="http://schemas.openxmlformats.org/officeDocument/2006/relationships" id="261" r:id="R78bdc169532045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bb0c39adca4a08" /><Relationship Type="http://schemas.openxmlformats.org/officeDocument/2006/relationships/slideMaster" Target="/ppt/slideMasters/slideMaster1.xml" Id="R3da1bd6927ef4e7b" /><Relationship Type="http://schemas.openxmlformats.org/officeDocument/2006/relationships/notesMaster" Target="/ppt/notesMasters/notesMaster1.xml" Id="R0e555dbc839c49d2" /><Relationship Type="http://schemas.openxmlformats.org/officeDocument/2006/relationships/presProps" Target="/ppt/presProps.xml" Id="R349e68054de74d2d" /><Relationship Type="http://schemas.openxmlformats.org/officeDocument/2006/relationships/tableStyles" Target="/ppt/tableStyles.xml" Id="Rb59f94d6c46d4df5" /><Relationship Type="http://schemas.openxmlformats.org/officeDocument/2006/relationships/slide" Target="/ppt/slides/slide1.xml" Id="R97cb5da426ea4f1f" /><Relationship Type="http://schemas.openxmlformats.org/officeDocument/2006/relationships/slide" Target="/ppt/slides/slide2.xml" Id="Rd801ab9a59ea4d3d" /><Relationship Type="http://schemas.openxmlformats.org/officeDocument/2006/relationships/slide" Target="/ppt/slides/slide3.xml" Id="R7ae3a19a3053416a" /><Relationship Type="http://schemas.openxmlformats.org/officeDocument/2006/relationships/slide" Target="/ppt/slides/slide4.xml" Id="R25116aff95d04fa6" /><Relationship Type="http://schemas.openxmlformats.org/officeDocument/2006/relationships/slide" Target="/ppt/slides/slide5.xml" Id="R05b5088cd7ca4af3" /><Relationship Type="http://schemas.openxmlformats.org/officeDocument/2006/relationships/slide" Target="/ppt/slides/slide6.xml" Id="R78bdc169532045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ae4c494a114b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4e207159db4860" /><Relationship Type="http://schemas.openxmlformats.org/officeDocument/2006/relationships/notesMaster" Target="/ppt/notesMasters/notesMaster1.xml" Id="R6950d83907ad4a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619a69b56c4751" /><Relationship Type="http://schemas.openxmlformats.org/officeDocument/2006/relationships/notesMaster" Target="/ppt/notesMasters/notesMaster1.xml" Id="R25ca84873fb342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88e51c54334b1c" /><Relationship Type="http://schemas.openxmlformats.org/officeDocument/2006/relationships/notesMaster" Target="/ppt/notesMasters/notesMaster1.xml" Id="Ra2324f309a2843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9eb3d3861d41f4" /><Relationship Type="http://schemas.openxmlformats.org/officeDocument/2006/relationships/notesMaster" Target="/ppt/notesMasters/notesMaster1.xml" Id="R366477436c5c47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2392044d3b4998" /><Relationship Type="http://schemas.openxmlformats.org/officeDocument/2006/relationships/notesMaster" Target="/ppt/notesMasters/notesMaster1.xml" Id="R183789141f6d4d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39169d3e5342c9" /><Relationship Type="http://schemas.openxmlformats.org/officeDocument/2006/relationships/notesMaster" Target="/ppt/notesMasters/notesMaster1.xml" Id="R017c48fc556844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https://dorahacks.io/hackathon/buidl-ctc-2026-fall/detail (hackathon context; accessed 2026-09-03)</a:t>
            </a:r>
          </a:p>
          <a:p xmlns:a="http://schemas.openxmlformats.org/drawingml/2006/main">
            <a:r>
              <a:t>- https://github.com/choguun/AttestLock-Agent (product implementation; accessed 2026-09-03)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https://docs.attestcoin.org/ (cross-chain proof model; accessed 2026-09-03)</a:t>
            </a:r>
          </a:p>
          <a:p xmlns:a="http://schemas.openxmlformats.org/drawingml/2006/main">
            <a:r>
              <a:t>- https://github.com/choguun/AttestLock-Agent/blob/main/docs/THREAT_MODEL.md (system boundary; accessed 2026-09-03)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https://github.com/gluwa/attestcoin-protocol-examples (official proof ABI and dependencies; accessed 2026-09-03)</a:t>
            </a:r>
          </a:p>
          <a:p xmlns:a="http://schemas.openxmlformats.org/drawingml/2006/main">
            <a:r>
              <a:t>- https://docs.attestcoin.org/ (BlockProver and Proof Builder; accessed 2026-09-03)</a:t>
            </a:r>
          </a:p>
          <a:p xmlns:a="http://schemas.openxmlformats.org/drawingml/2006/main">
            <a:r>
              <a:t>- https://github.com/choguun/AttestLock-Agent/blob/main/docs/ATTESTCOIN.md (implemented flow; accessed 2026-09-03)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https://github.com/choguun/AttestLock-Agent/blob/main/contracts/src/creditcoin/AttestLockASC.sol (destination checks; accessed 2026-09-03)</a:t>
            </a:r>
          </a:p>
          <a:p xmlns:a="http://schemas.openxmlformats.org/drawingml/2006/main">
            <a:r>
              <a:t>- https://github.com/choguun/AttestLock-Agent/blob/main/contracts/src/creditcoin/CreditPool.sol (borrow authorization; accessed 2026-09-03)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reviewed 10 September 2026. Previously completed transactions, not one uninterrupted signing session. On 9 September the borrower approved and locked through Chrome/Rabby, signed queue authorization, refreshed during attestation and recovered the same job. Faucet tokens were previously claimed. That line has no draw; the 50 mUSD draw belongs to the first line on 5 September. The original line matures 12 September at 11:21:15 UTC; its repayment is pending. The new line matures 16 September at 15:58:30 UTC. One demo borrower is not independent adoption. No liquidation or trustless source release. The internal 93 target is not achieved.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https://github.com/choguun/AttestLock-Agent/blob/44b989fbea0a96f9ceca240b70c32eba8da7bfd0/evidence/browser-onboarding-2026-09-09.json (reviewed 2026-09-10)</a:t>
            </a:r>
          </a:p>
          <a:p xmlns:a="http://schemas.openxmlformats.org/drawingml/2006/main">
            <a:r>
              <a:t>- https://eth-sepolia.blockscout.com/tx/0xc0cd26a96028edf201fa312aabf7cb2999b40d503e30447d65b1cdf3e100fa15 (reviewed 2026-09-10)</a:t>
            </a:r>
          </a:p>
          <a:p xmlns:a="http://schemas.openxmlformats.org/drawingml/2006/main">
            <a:r>
              <a:t>- https://creditcoin-testnet.blockscout.com/tx/0xb1c329b7aa85925c145cbcf0ba0eca0064098e7aaca47586495979d038c92924 (reviewed 2026-09-10)</a:t>
            </a:r>
          </a:p>
          <a:p xmlns:a="http://schemas.openxmlformats.org/drawingml/2006/main">
            <a:r>
              <a:t>- https://creditcoin-testnet.blockscout.com/tx/0xb631739d1a05410e3ca6a26b88de068ea514cec1d18b758d8aebde49e684dba4 (reviewed 2026-09-10)</a:t>
            </a:r>
          </a:p>
          <a:p xmlns:a="http://schemas.openxmlformats.org/drawingml/2006/main">
            <a:r>
              <a:t>- https://github.com/choguun/AttestLock-Agent/blob/main/docs/LIVE_TESTNET.md (reviewed 2026-09-10)</a:t>
            </a:r>
          </a:p>
          <a:p xmlns:a="http://schemas.openxmlformats.org/drawingml/2006/main">
            <a:r>
              <a:t>- https://github.com/choguun/AttestLock-Agent/actions/runs/34471615263 (reviewed 2026-09-10)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reviewed 10 September 2026. Previously completed transactions, not one uninterrupted signing session. On 9 September the borrower approved and locked through Chrome/Rabby, signed queue authorization, refreshed during attestation and recovered the same job. Faucet tokens were previously claimed. That line has no draw; the 50 mUSD draw belongs to the first line on 5 September. The original line matures 12 September at 11:21:15 UTC; its repayment is pending. The new line matures 16 September at 15:58:30 UTC. One demo borrower is not independent adoption. No liquidation or trustless source release. The internal 93 target is not achieved.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https://github.com/choguun/AttestLock-Agent/blob/main/docs/ONBOARDING.md</a:t>
            </a:r>
          </a:p>
          <a:p xmlns:a="http://schemas.openxmlformats.org/drawingml/2006/main">
            <a:r>
              <a:t>- https://github.com/choguun/AttestLock-Agent/blob/main/docs/COMPETITIVE.md</a:t>
            </a:r>
          </a:p>
          <a:p xmlns:a="http://schemas.openxmlformats.org/drawingml/2006/main">
            <a:r>
              <a:t>- https://creditcoin.org/Credal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f4d5ca4f34c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3dc1edd71d462b" /><Relationship Type="http://schemas.openxmlformats.org/officeDocument/2006/relationships/slideLayout" Target="/ppt/slideLayouts/slideLayout1.xml" Id="R9707ce02388543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07ce02388543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3f5dfed334307" /><Relationship Type="http://schemas.openxmlformats.org/officeDocument/2006/relationships/notesSlide" Target="/ppt/notesSlides/notesSlide1.xml" Id="R9333e822461c44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57494a4904d5d" /><Relationship Type="http://schemas.openxmlformats.org/officeDocument/2006/relationships/notesSlide" Target="/ppt/notesSlides/notesSlide2.xml" Id="R60fef042854441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9353c8723428b" /><Relationship Type="http://schemas.openxmlformats.org/officeDocument/2006/relationships/notesSlide" Target="/ppt/notesSlides/notesSlide3.xml" Id="R84425cc73ff04b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4eb9ff9f14255" /><Relationship Type="http://schemas.openxmlformats.org/officeDocument/2006/relationships/notesSlide" Target="/ppt/notesSlides/notesSlide4.xml" Id="R2a64d9edb68642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d0fedbd3f4e41" /><Relationship Type="http://schemas.openxmlformats.org/officeDocument/2006/relationships/notesSlide" Target="/ppt/notesSlides/notesSlide5.xml" Id="R610631d54a1a4a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305ff682d4a23" /><Relationship Type="http://schemas.openxmlformats.org/officeDocument/2006/relationships/image" Target="/ppt/media/image.png" Id="R66e510f3a2c44ee6" /><Relationship Type="http://schemas.openxmlformats.org/officeDocument/2006/relationships/notesSlide" Target="/ppt/notesSlides/notesSlide6.xml" Id="R5e2262a64e2f42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BA39BF4-2CBE-4C22-9C4D-B778643A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ATTESTLOCK · CREDITCOIN DEFI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26AD4BE-5802-4AE7-BEC5-105123E6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Credit without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moving collateral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AA492BC0-64F6-4792-B60D-BA7B69D1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6572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84716AC-D4EA-47D1-A731-4BCD8B35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600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E6570"/>
                </a:solidFill>
              </a:defRPr>
            </a:pPr>
            <a:r>
              <a:rPr sz="1950" b="0">
                <a:solidFill>
                  <a:srgbClr val="5E6570"/>
                </a:solidFill>
              </a:rPr>
              <a:t>Lock mock USDC on Sepolia.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E6570"/>
                </a:solidFill>
              </a:defRPr>
            </a:pPr>
            <a:r>
              <a:rPr sz="1950" b="0">
                <a:solidFill>
                  <a:srgbClr val="5E6570"/>
                </a:solidFill>
              </a:rPr>
              <a:t>Prove the receipt. Borrow on Creditcoin.</a:t>
            </a:r>
          </a:p>
        </p:txBody>
      </p:sp>
      <p:sp>
        <p:nvSpPr>
          <p:cNvPr id="5" name="cover-field">
            <a:extLst xmlns:a="http://schemas.openxmlformats.org/drawingml/2006/main">
              <a:ext uri="{FF2B5EF4-FFF2-40B4-BE49-F238E27FC236}">
                <a16:creationId xmlns:a16="http://schemas.microsoft.com/office/drawing/2014/main" id="{31DB2381-2D7F-4A55-8A64-F58BB945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"/>
            <a:ext cx="2914650" cy="567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proof-label">
            <a:extLst xmlns:a="http://schemas.openxmlformats.org/drawingml/2006/main">
              <a:ext uri="{FF2B5EF4-FFF2-40B4-BE49-F238E27FC236}">
                <a16:creationId xmlns:a16="http://schemas.microsoft.com/office/drawing/2014/main" id="{7F346DF1-2D4A-4B80-88E3-7B446DE5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90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570"/>
                </a:solidFill>
              </a:defRPr>
            </a:pPr>
            <a:r>
              <a:rPr sz="1200" b="1">
                <a:solidFill>
                  <a:srgbClr val="5E6570"/>
                </a:solidFill>
              </a:rPr>
              <a:t>NO VALID PROOF</a:t>
            </a:r>
          </a:p>
        </p:txBody>
      </p:sp>
      <p:sp>
        <p:nvSpPr>
          <p:cNvPr id="7" name="cover-zero">
            <a:extLst xmlns:a="http://schemas.openxmlformats.org/drawingml/2006/main">
              <a:ext uri="{FF2B5EF4-FFF2-40B4-BE49-F238E27FC236}">
                <a16:creationId xmlns:a16="http://schemas.microsoft.com/office/drawing/2014/main" id="{8E16DCCF-C78C-4CD5-A85F-972665C2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145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900" b="1">
                <a:solidFill>
                  <a:srgbClr val="000000"/>
                </a:solidFill>
              </a:defRPr>
            </a:pPr>
            <a:r>
              <a:rPr sz="69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8" name="cover-credit-lines">
            <a:extLst xmlns:a="http://schemas.openxmlformats.org/drawingml/2006/main">
              <a:ext uri="{FF2B5EF4-FFF2-40B4-BE49-F238E27FC236}">
                <a16:creationId xmlns:a16="http://schemas.microsoft.com/office/drawing/2014/main" id="{2DA60F38-57FE-4E26-BB64-509DCE11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credit lines</a:t>
            </a:r>
          </a:p>
        </p:txBody>
      </p:sp>
      <p:sp>
        <p:nvSpPr>
          <p:cNvPr id="9" name="cover-field-rule">
            <a:extLst xmlns:a="http://schemas.openxmlformats.org/drawingml/2006/main">
              <a:ext uri="{FF2B5EF4-FFF2-40B4-BE49-F238E27FC236}">
                <a16:creationId xmlns:a16="http://schemas.microsoft.com/office/drawing/2014/main" id="{3E09F6BA-F124-4998-9E4F-B9AB458C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4335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claim">
            <a:extLst xmlns:a="http://schemas.openxmlformats.org/drawingml/2006/main">
              <a:ext uri="{FF2B5EF4-FFF2-40B4-BE49-F238E27FC236}">
                <a16:creationId xmlns:a16="http://schemas.microsoft.com/office/drawing/2014/main" id="{97BD7699-0DF2-40DB-A912-80739DC6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481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570"/>
                </a:solidFill>
              </a:defRPr>
            </a:pPr>
            <a:r>
              <a:rPr sz="1425" b="0">
                <a:solidFill>
                  <a:srgbClr val="5E6570"/>
                </a:solidFill>
              </a:rPr>
              <a:t>Attestcoin is the gate,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E6570"/>
                </a:solidFill>
              </a:defRPr>
            </a:pPr>
            <a:r>
              <a:rPr sz="1425" b="0">
                <a:solidFill>
                  <a:srgbClr val="5E6570"/>
                </a:solidFill>
              </a:rPr>
              <a:t>not a decorative oracle.</a:t>
            </a:r>
          </a:p>
        </p:txBody>
      </p:sp>
      <p:sp>
        <p:nvSpPr>
          <p:cNvPr id="1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9984C3A9-92CD-49F5-9B04-84BAD73F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E6570"/>
                </a:solidFill>
              </a:defRPr>
            </a:pPr>
            <a:r>
              <a:rPr sz="975" b="0">
                <a:solidFill>
                  <a:srgbClr val="5E6570"/>
                </a:solidFill>
              </a:rPr>
              <a:t>BUIDL CTC 2026 FALL</a:t>
            </a:r>
          </a:p>
        </p:txBody>
      </p:sp>
    </p:spTree>
    <p:extLst>
      <p:ext uri="{BB962C8B-B14F-4D97-AF65-F5344CB8AC3E}">
        <p14:creationId xmlns:p14="http://schemas.microsoft.com/office/powerpoint/2010/main" val="15018854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2">
            <a:extLst xmlns:a="http://schemas.openxmlformats.org/drawingml/2006/main">
              <a:ext uri="{FF2B5EF4-FFF2-40B4-BE49-F238E27FC236}">
                <a16:creationId xmlns:a16="http://schemas.microsoft.com/office/drawing/2014/main" id="{1438C55E-D0F1-48FE-ADAD-237808F7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PROBLEM → PRODUCT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9C216EB5-B1A3-4FEB-BF58-CFF17819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Cross-chain credit has a reporting problem</a:t>
            </a:r>
          </a:p>
        </p:txBody>
      </p:sp>
      <p:sp>
        <p:nvSpPr>
          <p:cNvPr id="3" name="top-rule-2">
            <a:extLst xmlns:a="http://schemas.openxmlformats.org/drawingml/2006/main">
              <a:ext uri="{FF2B5EF4-FFF2-40B4-BE49-F238E27FC236}">
                <a16:creationId xmlns:a16="http://schemas.microsoft.com/office/drawing/2014/main" id="{43F72D93-BC1A-4B0F-BB1D-C9637D22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B86E5C5C-E4B0-4C30-9631-E48744ED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341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570"/>
                </a:solidFill>
              </a:defRPr>
            </a:pPr>
            <a:r>
              <a:rPr sz="975" b="0">
                <a:solidFill>
                  <a:srgbClr val="5E6570"/>
                </a:solidFill>
              </a:rPr>
              <a:t>02</a:t>
            </a:r>
          </a:p>
        </p:txBody>
      </p:sp>
      <p:sp>
        <p:nvSpPr>
          <p:cNvPr id="5" name="today-label">
            <a:extLst xmlns:a="http://schemas.openxmlformats.org/drawingml/2006/main">
              <a:ext uri="{FF2B5EF4-FFF2-40B4-BE49-F238E27FC236}">
                <a16:creationId xmlns:a16="http://schemas.microsoft.com/office/drawing/2014/main" id="{A2DA3966-C128-42C7-BACD-DD4AA36F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570"/>
                </a:solidFill>
              </a:defRPr>
            </a:pPr>
            <a:r>
              <a:rPr sz="1200" b="1">
                <a:solidFill>
                  <a:srgbClr val="5E6570"/>
                </a:solidFill>
              </a:rPr>
              <a:t>RISK</a:t>
            </a:r>
          </a:p>
        </p:txBody>
      </p:sp>
      <p:sp>
        <p:nvSpPr>
          <p:cNvPr id="6" name="today-copy">
            <a:extLst xmlns:a="http://schemas.openxmlformats.org/drawingml/2006/main">
              <a:ext uri="{FF2B5EF4-FFF2-40B4-BE49-F238E27FC236}">
                <a16:creationId xmlns:a16="http://schemas.microsoft.com/office/drawing/2014/main" id="{75F194A2-ACB4-4CAA-BB19-4015E90E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4572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Operator-reported collateral introduces a reporting dependency.</a:t>
            </a:r>
          </a:p>
        </p:txBody>
      </p:sp>
      <p:sp>
        <p:nvSpPr>
          <p:cNvPr id="7" name="today-detail">
            <a:extLst xmlns:a="http://schemas.openxmlformats.org/drawingml/2006/main">
              <a:ext uri="{FF2B5EF4-FFF2-40B4-BE49-F238E27FC236}">
                <a16:creationId xmlns:a16="http://schemas.microsoft.com/office/drawing/2014/main" id="{AD131F87-0D6E-4517-8BBC-628CD6FA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570"/>
                </a:solidFill>
              </a:defRPr>
            </a:pPr>
            <a:r>
              <a:rPr sz="1500" b="0">
                <a:solidFill>
                  <a:srgbClr val="5E6570"/>
                </a:solidFill>
              </a:rPr>
              <a:t>The reporting layer becomes part of the solvency boundary.</a:t>
            </a:r>
          </a:p>
        </p:txBody>
      </p:sp>
      <p:sp>
        <p:nvSpPr>
          <p:cNvPr id="8" name="mid-divider">
            <a:extLst xmlns:a="http://schemas.openxmlformats.org/drawingml/2006/main">
              <a:ext uri="{FF2B5EF4-FFF2-40B4-BE49-F238E27FC236}">
                <a16:creationId xmlns:a16="http://schemas.microsoft.com/office/drawing/2014/main" id="{576D667A-DB79-47E8-968F-11CE6F5D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80975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ttestlock-label">
            <a:extLst xmlns:a="http://schemas.openxmlformats.org/drawingml/2006/main">
              <a:ext uri="{FF2B5EF4-FFF2-40B4-BE49-F238E27FC236}">
                <a16:creationId xmlns:a16="http://schemas.microsoft.com/office/drawing/2014/main" id="{36F8CB3A-C6A2-4BEF-8D29-069400C6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43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ATTESTLOCK</a:t>
            </a:r>
          </a:p>
        </p:txBody>
      </p:sp>
      <p:sp>
        <p:nvSpPr>
          <p:cNvPr id="10" name="attestlock-copy">
            <a:extLst xmlns:a="http://schemas.openxmlformats.org/drawingml/2006/main">
              <a:ext uri="{FF2B5EF4-FFF2-40B4-BE49-F238E27FC236}">
                <a16:creationId xmlns:a16="http://schemas.microsoft.com/office/drawing/2014/main" id="{F1350CD4-4926-462D-A81F-639F6328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4762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Creditcoin verifies the exact successful escrow receipt.</a:t>
            </a:r>
          </a:p>
        </p:txBody>
      </p:sp>
      <p:sp>
        <p:nvSpPr>
          <p:cNvPr id="11" name="attestlock-detail">
            <a:extLst xmlns:a="http://schemas.openxmlformats.org/drawingml/2006/main">
              <a:ext uri="{FF2B5EF4-FFF2-40B4-BE49-F238E27FC236}">
                <a16:creationId xmlns:a16="http://schemas.microsoft.com/office/drawing/2014/main" id="{80A974FC-35A7-4467-A598-B5523BAE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466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570"/>
                </a:solidFill>
              </a:defRPr>
            </a:pPr>
            <a:r>
              <a:rPr sz="1500" b="0">
                <a:solidFill>
                  <a:srgbClr val="5E6570"/>
                </a:solidFill>
              </a:rPr>
              <a:t>The asset stays on Sepolia. The line opens only after BlockProver succeeds.</a:t>
            </a:r>
          </a:p>
        </p:txBody>
      </p:sp>
      <p:sp>
        <p:nvSpPr>
          <p:cNvPr id="12" name="comparison-accent">
            <a:extLst xmlns:a="http://schemas.openxmlformats.org/drawingml/2006/main">
              <a:ext uri="{FF2B5EF4-FFF2-40B4-BE49-F238E27FC236}">
                <a16:creationId xmlns:a16="http://schemas.microsoft.com/office/drawing/2014/main" id="{22842A21-D764-424F-AEFA-84A17859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05450"/>
            <a:ext cx="466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44427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3">
            <a:extLst xmlns:a="http://schemas.openxmlformats.org/drawingml/2006/main">
              <a:ext uri="{FF2B5EF4-FFF2-40B4-BE49-F238E27FC236}">
                <a16:creationId xmlns:a16="http://schemas.microsoft.com/office/drawing/2014/main" id="{BCFBDAD7-69F5-4D7C-BDC5-8A2AB55B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PROOF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55DEA8E8-C99C-44ED-B404-B18B1D6C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One proof opens one bounded line</a:t>
            </a:r>
          </a:p>
        </p:txBody>
      </p:sp>
      <p:sp>
        <p:nvSpPr>
          <p:cNvPr id="3" name="top-rule-3">
            <a:extLst xmlns:a="http://schemas.openxmlformats.org/drawingml/2006/main">
              <a:ext uri="{FF2B5EF4-FFF2-40B4-BE49-F238E27FC236}">
                <a16:creationId xmlns:a16="http://schemas.microsoft.com/office/drawing/2014/main" id="{B475EB3B-76AF-48D5-8691-BE1C391A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7D199794-5615-4BEE-9306-250F5569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341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570"/>
                </a:solidFill>
              </a:defRPr>
            </a:pPr>
            <a:r>
              <a:rPr sz="975" b="0">
                <a:solidFill>
                  <a:srgbClr val="5E6570"/>
                </a:solidFill>
              </a:rPr>
              <a:t>03</a:t>
            </a:r>
          </a:p>
        </p:txBody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F687483F-6BDE-41B7-BB0C-850D817D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765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0">
                <a:solidFill>
                  <a:srgbClr val="3D8DFF"/>
                </a:solidFill>
              </a:defRPr>
            </a:pPr>
            <a:r>
              <a:rPr sz="3000" b="0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6" name="arrow-1">
            <a:extLst xmlns:a="http://schemas.openxmlformats.org/drawingml/2006/main">
              <a:ext uri="{FF2B5EF4-FFF2-40B4-BE49-F238E27FC236}">
                <a16:creationId xmlns:a16="http://schemas.microsoft.com/office/drawing/2014/main" id="{C548DF2D-DAC9-4793-8A80-2E9AFBA3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765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0">
                <a:solidFill>
                  <a:srgbClr val="3D8DFF"/>
                </a:solidFill>
              </a:defRPr>
            </a:pPr>
            <a:r>
              <a:rPr sz="3000" b="0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7" name="arrow-2">
            <a:extLst xmlns:a="http://schemas.openxmlformats.org/drawingml/2006/main">
              <a:ext uri="{FF2B5EF4-FFF2-40B4-BE49-F238E27FC236}">
                <a16:creationId xmlns:a16="http://schemas.microsoft.com/office/drawing/2014/main" id="{7FA810F6-A1C2-4959-98F8-D74DA126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0">
                <a:solidFill>
                  <a:srgbClr val="3D8DFF"/>
                </a:solidFill>
              </a:defRPr>
            </a:pPr>
            <a:r>
              <a:rPr sz="3000" b="0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8" name="node-0">
            <a:extLst xmlns:a="http://schemas.openxmlformats.org/drawingml/2006/main">
              <a:ext uri="{FF2B5EF4-FFF2-40B4-BE49-F238E27FC236}">
                <a16:creationId xmlns:a16="http://schemas.microsoft.com/office/drawing/2014/main" id="{68BFFDF1-D185-45BE-BBA2-F6E029C7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2669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num-0">
            <a:extLst xmlns:a="http://schemas.openxmlformats.org/drawingml/2006/main">
              <a:ext uri="{FF2B5EF4-FFF2-40B4-BE49-F238E27FC236}">
                <a16:creationId xmlns:a16="http://schemas.microsoft.com/office/drawing/2014/main" id="{BD7CBC70-A909-4A7E-929C-CCA10CED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01</a:t>
            </a:r>
          </a:p>
        </p:txBody>
      </p:sp>
      <p:sp>
        <p:nvSpPr>
          <p:cNvPr id="10" name="node-title-0">
            <a:extLst xmlns:a="http://schemas.openxmlformats.org/drawingml/2006/main">
              <a:ext uri="{FF2B5EF4-FFF2-40B4-BE49-F238E27FC236}">
                <a16:creationId xmlns:a16="http://schemas.microsoft.com/office/drawing/2014/main" id="{D4825A2B-2B57-4600-B068-0E90F312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Lock</a:t>
            </a:r>
          </a:p>
        </p:txBody>
      </p:sp>
      <p:sp>
        <p:nvSpPr>
          <p:cNvPr id="11" name="node-body-0">
            <a:extLst xmlns:a="http://schemas.openxmlformats.org/drawingml/2006/main">
              <a:ext uri="{FF2B5EF4-FFF2-40B4-BE49-F238E27FC236}">
                <a16:creationId xmlns:a16="http://schemas.microsoft.com/office/drawing/2014/main" id="{5F81852B-7035-41F5-9DC1-A35FCC9E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Sepolia vault emits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CollateralLocked</a:t>
            </a:r>
          </a:p>
        </p:txBody>
      </p:sp>
      <p:sp>
        <p:nvSpPr>
          <p:cNvPr id="12" name="node-1">
            <a:extLst xmlns:a="http://schemas.openxmlformats.org/drawingml/2006/main">
              <a:ext uri="{FF2B5EF4-FFF2-40B4-BE49-F238E27FC236}">
                <a16:creationId xmlns:a16="http://schemas.microsoft.com/office/drawing/2014/main" id="{BE9321D7-71BB-4403-8B23-BD88C36F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47900"/>
            <a:ext cx="22669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num-1">
            <a:extLst xmlns:a="http://schemas.openxmlformats.org/drawingml/2006/main">
              <a:ext uri="{FF2B5EF4-FFF2-40B4-BE49-F238E27FC236}">
                <a16:creationId xmlns:a16="http://schemas.microsoft.com/office/drawing/2014/main" id="{E9F6DF6F-7E58-4BF5-8757-889E386F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5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02</a:t>
            </a:r>
          </a:p>
        </p:txBody>
      </p:sp>
      <p:sp>
        <p:nvSpPr>
          <p:cNvPr id="14" name="node-title-1">
            <a:extLst xmlns:a="http://schemas.openxmlformats.org/drawingml/2006/main">
              <a:ext uri="{FF2B5EF4-FFF2-40B4-BE49-F238E27FC236}">
                <a16:creationId xmlns:a16="http://schemas.microsoft.com/office/drawing/2014/main" id="{0F0F804B-78E8-4851-9CDF-3415D559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Attest</a:t>
            </a:r>
          </a:p>
        </p:txBody>
      </p:sp>
      <p:sp>
        <p:nvSpPr>
          <p:cNvPr id="15" name="node-body-1">
            <a:extLst xmlns:a="http://schemas.openxmlformats.org/drawingml/2006/main">
              <a:ext uri="{FF2B5EF4-FFF2-40B4-BE49-F238E27FC236}">
                <a16:creationId xmlns:a16="http://schemas.microsoft.com/office/drawing/2014/main" id="{49F6DD18-DE78-4637-8F6E-953119D8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90900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Wait for height;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build official proof</a:t>
            </a:r>
          </a:p>
        </p:txBody>
      </p:sp>
      <p:sp>
        <p:nvSpPr>
          <p:cNvPr id="16" name="node-2">
            <a:extLst xmlns:a="http://schemas.openxmlformats.org/drawingml/2006/main">
              <a:ext uri="{FF2B5EF4-FFF2-40B4-BE49-F238E27FC236}">
                <a16:creationId xmlns:a16="http://schemas.microsoft.com/office/drawing/2014/main" id="{D05C07D5-AD4E-485A-A675-588DB23C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22669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de-num-2">
            <a:extLst xmlns:a="http://schemas.openxmlformats.org/drawingml/2006/main">
              <a:ext uri="{FF2B5EF4-FFF2-40B4-BE49-F238E27FC236}">
                <a16:creationId xmlns:a16="http://schemas.microsoft.com/office/drawing/2014/main" id="{BB75AEA3-4A38-4679-BB73-52F9FDE3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03</a:t>
            </a:r>
          </a:p>
        </p:txBody>
      </p:sp>
      <p:sp>
        <p:nvSpPr>
          <p:cNvPr id="18" name="node-title-2">
            <a:extLst xmlns:a="http://schemas.openxmlformats.org/drawingml/2006/main">
              <a:ext uri="{FF2B5EF4-FFF2-40B4-BE49-F238E27FC236}">
                <a16:creationId xmlns:a16="http://schemas.microsoft.com/office/drawing/2014/main" id="{DF38ACEA-30AE-4571-A359-75AA0946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Verify</a:t>
            </a:r>
          </a:p>
        </p:txBody>
      </p:sp>
      <p:sp>
        <p:nvSpPr>
          <p:cNvPr id="19" name="node-body-2">
            <a:extLst xmlns:a="http://schemas.openxmlformats.org/drawingml/2006/main">
              <a:ext uri="{FF2B5EF4-FFF2-40B4-BE49-F238E27FC236}">
                <a16:creationId xmlns:a16="http://schemas.microsoft.com/office/drawing/2014/main" id="{D12B1C55-B50E-4A97-8328-AE6C6ED2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0x0FD2 + exact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receipt/event policy</a:t>
            </a:r>
          </a:p>
        </p:txBody>
      </p:sp>
      <p:sp>
        <p:nvSpPr>
          <p:cNvPr id="20" name="node-3">
            <a:extLst xmlns:a="http://schemas.openxmlformats.org/drawingml/2006/main">
              <a:ext uri="{FF2B5EF4-FFF2-40B4-BE49-F238E27FC236}">
                <a16:creationId xmlns:a16="http://schemas.microsoft.com/office/drawing/2014/main" id="{9DB5F30D-4066-42AD-9CAA-D755D5D3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2669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ode-num-3">
            <a:extLst xmlns:a="http://schemas.openxmlformats.org/drawingml/2006/main">
              <a:ext uri="{FF2B5EF4-FFF2-40B4-BE49-F238E27FC236}">
                <a16:creationId xmlns:a16="http://schemas.microsoft.com/office/drawing/2014/main" id="{31ED6D55-B2CD-43ED-8F7C-472161CE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04</a:t>
            </a:r>
          </a:p>
        </p:txBody>
      </p:sp>
      <p:sp>
        <p:nvSpPr>
          <p:cNvPr id="22" name="node-title-3">
            <a:extLst xmlns:a="http://schemas.openxmlformats.org/drawingml/2006/main">
              <a:ext uri="{FF2B5EF4-FFF2-40B4-BE49-F238E27FC236}">
                <a16:creationId xmlns:a16="http://schemas.microsoft.com/office/drawing/2014/main" id="{9908F1F8-8921-4844-AC84-92B368D5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57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Borrow</a:t>
            </a:r>
          </a:p>
        </p:txBody>
      </p:sp>
      <p:sp>
        <p:nvSpPr>
          <p:cNvPr id="23" name="node-body-3">
            <a:extLst xmlns:a="http://schemas.openxmlformats.org/drawingml/2006/main">
              <a:ext uri="{FF2B5EF4-FFF2-40B4-BE49-F238E27FC236}">
                <a16:creationId xmlns:a16="http://schemas.microsoft.com/office/drawing/2014/main" id="{0446B1E0-04B6-42D0-97B6-819BF5C0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90900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ASC opens 50%;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user signs the draw</a:t>
            </a:r>
          </a:p>
        </p:txBody>
      </p:sp>
      <p:sp>
        <p:nvSpPr>
          <p:cNvPr id="24" name="architecture-callout">
            <a:extLst xmlns:a="http://schemas.openxmlformats.org/drawingml/2006/main">
              <a:ext uri="{FF2B5EF4-FFF2-40B4-BE49-F238E27FC236}">
                <a16:creationId xmlns:a16="http://schemas.microsoft.com/office/drawing/2014/main" id="{75186C8C-8569-4BA4-8D1E-9F67D855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The worker relays proof. It cannot manufacture credit.</a:t>
            </a:r>
          </a:p>
        </p:txBody>
      </p:sp>
    </p:spTree>
    <p:extLst>
      <p:ext uri="{BB962C8B-B14F-4D97-AF65-F5344CB8AC3E}">
        <p14:creationId xmlns:p14="http://schemas.microsoft.com/office/powerpoint/2010/main" val="20189947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4">
            <a:extLst xmlns:a="http://schemas.openxmlformats.org/drawingml/2006/main">
              <a:ext uri="{FF2B5EF4-FFF2-40B4-BE49-F238E27FC236}">
                <a16:creationId xmlns:a16="http://schemas.microsoft.com/office/drawing/2014/main" id="{A2F8CB15-D180-4E44-947F-72322F72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FAIL-CLOSED CONTROLS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7B7EBBD-C2ED-4D14-A6F4-F618F211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The safest line is the one that never opens</a:t>
            </a:r>
          </a:p>
        </p:txBody>
      </p:sp>
      <p:sp>
        <p:nvSpPr>
          <p:cNvPr id="3" name="top-rule-4">
            <a:extLst xmlns:a="http://schemas.openxmlformats.org/drawingml/2006/main">
              <a:ext uri="{FF2B5EF4-FFF2-40B4-BE49-F238E27FC236}">
                <a16:creationId xmlns:a16="http://schemas.microsoft.com/office/drawing/2014/main" id="{566D4DC4-D92D-423C-B40E-BCE2120C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E80C7156-4131-4F58-BE88-42DC0116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341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570"/>
                </a:solidFill>
              </a:defRPr>
            </a:pPr>
            <a:r>
              <a:rPr sz="975" b="0">
                <a:solidFill>
                  <a:srgbClr val="5E6570"/>
                </a:solidFill>
              </a:rPr>
              <a:t>04</a:t>
            </a:r>
          </a:p>
        </p:txBody>
      </p:sp>
      <p:sp>
        <p:nvSpPr>
          <p:cNvPr id="5" name="zero-proof">
            <a:extLst xmlns:a="http://schemas.openxmlformats.org/drawingml/2006/main">
              <a:ext uri="{FF2B5EF4-FFF2-40B4-BE49-F238E27FC236}">
                <a16:creationId xmlns:a16="http://schemas.microsoft.com/office/drawing/2014/main" id="{2C70C6B5-65FF-4D19-A267-B5DBE508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450" b="1">
                <a:solidFill>
                  <a:srgbClr val="000000"/>
                </a:solidFill>
              </a:defRPr>
            </a:pPr>
            <a:r>
              <a:rPr sz="945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6" name="zero-caption">
            <a:extLst xmlns:a="http://schemas.openxmlformats.org/drawingml/2006/main">
              <a:ext uri="{FF2B5EF4-FFF2-40B4-BE49-F238E27FC236}">
                <a16:creationId xmlns:a16="http://schemas.microsoft.com/office/drawing/2014/main" id="{EFA1F1C4-4D20-4F83-9BE1-A82183BA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33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invalid proofs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become credit</a:t>
            </a:r>
          </a:p>
        </p:txBody>
      </p:sp>
      <p:sp>
        <p:nvSpPr>
          <p:cNvPr id="7" name="zero-accent">
            <a:extLst xmlns:a="http://schemas.openxmlformats.org/drawingml/2006/main">
              <a:ext uri="{FF2B5EF4-FFF2-40B4-BE49-F238E27FC236}">
                <a16:creationId xmlns:a16="http://schemas.microsoft.com/office/drawing/2014/main" id="{E4B9A8FC-5C66-4F6F-A62A-A7AD77BC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609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ntrol-rule-0">
            <a:extLst xmlns:a="http://schemas.openxmlformats.org/drawingml/2006/main">
              <a:ext uri="{FF2B5EF4-FFF2-40B4-BE49-F238E27FC236}">
                <a16:creationId xmlns:a16="http://schemas.microsoft.com/office/drawing/2014/main" id="{567BF1FE-C283-412D-A802-8BEA1595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6225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ntrol-heading-0">
            <a:extLst xmlns:a="http://schemas.openxmlformats.org/drawingml/2006/main">
              <a:ext uri="{FF2B5EF4-FFF2-40B4-BE49-F238E27FC236}">
                <a16:creationId xmlns:a16="http://schemas.microsoft.com/office/drawing/2014/main" id="{06F61A8D-C793-4DEF-826B-E3E38688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85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Receipt</a:t>
            </a:r>
          </a:p>
        </p:txBody>
      </p:sp>
      <p:sp>
        <p:nvSpPr>
          <p:cNvPr id="10" name="control-detail-0">
            <a:extLst xmlns:a="http://schemas.openxmlformats.org/drawingml/2006/main">
              <a:ext uri="{FF2B5EF4-FFF2-40B4-BE49-F238E27FC236}">
                <a16:creationId xmlns:a16="http://schemas.microsoft.com/office/drawing/2014/main" id="{C4D090E4-62E4-4FD0-9977-75E1D64E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860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status = 1</a:t>
            </a:r>
          </a:p>
        </p:txBody>
      </p:sp>
      <p:sp>
        <p:nvSpPr>
          <p:cNvPr id="11" name="control-rule-1">
            <a:extLst xmlns:a="http://schemas.openxmlformats.org/drawingml/2006/main">
              <a:ext uri="{FF2B5EF4-FFF2-40B4-BE49-F238E27FC236}">
                <a16:creationId xmlns:a16="http://schemas.microsoft.com/office/drawing/2014/main" id="{499591F0-62A4-4FAD-82FE-7E8AE3D6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6225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trol-heading-1">
            <a:extLst xmlns:a="http://schemas.openxmlformats.org/drawingml/2006/main">
              <a:ext uri="{FF2B5EF4-FFF2-40B4-BE49-F238E27FC236}">
                <a16:creationId xmlns:a16="http://schemas.microsoft.com/office/drawing/2014/main" id="{87478F5C-63B6-4A61-A717-65FFE1FB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85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Origin</a:t>
            </a:r>
          </a:p>
        </p:txBody>
      </p:sp>
      <p:sp>
        <p:nvSpPr>
          <p:cNvPr id="13" name="control-detail-1">
            <a:extLst xmlns:a="http://schemas.openxmlformats.org/drawingml/2006/main">
              <a:ext uri="{FF2B5EF4-FFF2-40B4-BE49-F238E27FC236}">
                <a16:creationId xmlns:a16="http://schemas.microsoft.com/office/drawing/2014/main" id="{3FAC37AC-76DF-41E9-A3E3-C426BA04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860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chainKey = 1</a:t>
            </a:r>
          </a:p>
        </p:txBody>
      </p:sp>
      <p:sp>
        <p:nvSpPr>
          <p:cNvPr id="14" name="control-rule-2">
            <a:extLst xmlns:a="http://schemas.openxmlformats.org/drawingml/2006/main">
              <a:ext uri="{FF2B5EF4-FFF2-40B4-BE49-F238E27FC236}">
                <a16:creationId xmlns:a16="http://schemas.microsoft.com/office/drawing/2014/main" id="{2DF1A08F-424D-4FA0-BB9A-96E2A570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6240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rol-heading-2">
            <a:extLst xmlns:a="http://schemas.openxmlformats.org/drawingml/2006/main">
              <a:ext uri="{FF2B5EF4-FFF2-40B4-BE49-F238E27FC236}">
                <a16:creationId xmlns:a16="http://schemas.microsoft.com/office/drawing/2014/main" id="{9E94DF5F-296A-4799-BDE0-9BB3155A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861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Event</a:t>
            </a:r>
          </a:p>
        </p:txBody>
      </p:sp>
      <p:sp>
        <p:nvSpPr>
          <p:cNvPr id="16" name="control-detail-2">
            <a:extLst xmlns:a="http://schemas.openxmlformats.org/drawingml/2006/main">
              <a:ext uri="{FF2B5EF4-FFF2-40B4-BE49-F238E27FC236}">
                <a16:creationId xmlns:a16="http://schemas.microsoft.com/office/drawing/2014/main" id="{AF4FEC19-0B5D-445C-81CF-B8BD6955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8615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exact vault + token</a:t>
            </a:r>
          </a:p>
        </p:txBody>
      </p:sp>
      <p:sp>
        <p:nvSpPr>
          <p:cNvPr id="17" name="control-rule-3">
            <a:extLst xmlns:a="http://schemas.openxmlformats.org/drawingml/2006/main">
              <a:ext uri="{FF2B5EF4-FFF2-40B4-BE49-F238E27FC236}">
                <a16:creationId xmlns:a16="http://schemas.microsoft.com/office/drawing/2014/main" id="{E3A010FB-7E59-4ECF-BE4A-348A5FDE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6240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ntrol-heading-3">
            <a:extLst xmlns:a="http://schemas.openxmlformats.org/drawingml/2006/main">
              <a:ext uri="{FF2B5EF4-FFF2-40B4-BE49-F238E27FC236}">
                <a16:creationId xmlns:a16="http://schemas.microsoft.com/office/drawing/2014/main" id="{2831D4C5-0EA4-4A9B-9996-7DCE7970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861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Economics</a:t>
            </a:r>
          </a:p>
        </p:txBody>
      </p:sp>
      <p:sp>
        <p:nvSpPr>
          <p:cNvPr id="19" name="control-detail-3">
            <a:extLst xmlns:a="http://schemas.openxmlformats.org/drawingml/2006/main">
              <a:ext uri="{FF2B5EF4-FFF2-40B4-BE49-F238E27FC236}">
                <a16:creationId xmlns:a16="http://schemas.microsoft.com/office/drawing/2014/main" id="{82DFB49F-ADAC-4C39-AD92-AE5ADCC7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8615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≥100 mUSDC · 8d cover</a:t>
            </a:r>
          </a:p>
        </p:txBody>
      </p:sp>
      <p:sp>
        <p:nvSpPr>
          <p:cNvPr id="20" name="control-rule-4">
            <a:extLst xmlns:a="http://schemas.openxmlformats.org/drawingml/2006/main">
              <a:ext uri="{FF2B5EF4-FFF2-40B4-BE49-F238E27FC236}">
                <a16:creationId xmlns:a16="http://schemas.microsoft.com/office/drawing/2014/main" id="{F6FB8087-8A67-41CD-A807-711CD4F8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6255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ntrol-heading-4">
            <a:extLst xmlns:a="http://schemas.openxmlformats.org/drawingml/2006/main">
              <a:ext uri="{FF2B5EF4-FFF2-40B4-BE49-F238E27FC236}">
                <a16:creationId xmlns:a16="http://schemas.microsoft.com/office/drawing/2014/main" id="{78EA5028-C62F-40C8-8E0E-4077CAE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86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Replay</a:t>
            </a:r>
          </a:p>
        </p:txBody>
      </p:sp>
      <p:sp>
        <p:nvSpPr>
          <p:cNvPr id="22" name="control-detail-4">
            <a:extLst xmlns:a="http://schemas.openxmlformats.org/drawingml/2006/main">
              <a:ext uri="{FF2B5EF4-FFF2-40B4-BE49-F238E27FC236}">
                <a16:creationId xmlns:a16="http://schemas.microsoft.com/office/drawing/2014/main" id="{0CF79D2E-865E-45E9-80A1-9963800D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6863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query ID + lock ID</a:t>
            </a:r>
          </a:p>
        </p:txBody>
      </p:sp>
      <p:sp>
        <p:nvSpPr>
          <p:cNvPr id="23" name="control-rule-5">
            <a:extLst xmlns:a="http://schemas.openxmlformats.org/drawingml/2006/main">
              <a:ext uri="{FF2B5EF4-FFF2-40B4-BE49-F238E27FC236}">
                <a16:creationId xmlns:a16="http://schemas.microsoft.com/office/drawing/2014/main" id="{D711FA8C-C59B-4CE2-976A-AEB7F2F0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ntrol-heading-5">
            <a:extLst xmlns:a="http://schemas.openxmlformats.org/drawingml/2006/main">
              <a:ext uri="{FF2B5EF4-FFF2-40B4-BE49-F238E27FC236}">
                <a16:creationId xmlns:a16="http://schemas.microsoft.com/office/drawing/2014/main" id="{EE859F29-8095-472C-AFC9-0BDEABA9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Funds</a:t>
            </a:r>
          </a:p>
        </p:txBody>
      </p:sp>
      <p:sp>
        <p:nvSpPr>
          <p:cNvPr id="25" name="control-detail-5">
            <a:extLst xmlns:a="http://schemas.openxmlformats.org/drawingml/2006/main">
              <a:ext uri="{FF2B5EF4-FFF2-40B4-BE49-F238E27FC236}">
                <a16:creationId xmlns:a16="http://schemas.microsoft.com/office/drawing/2014/main" id="{47E312A8-8B32-434B-84EE-72E3F6D3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863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borrower signature</a:t>
            </a:r>
          </a:p>
        </p:txBody>
      </p:sp>
      <p:sp>
        <p:nvSpPr>
          <p:cNvPr id="26" name="refusal-callout">
            <a:extLst xmlns:a="http://schemas.openxmlformats.org/drawingml/2006/main">
              <a:ext uri="{FF2B5EF4-FFF2-40B4-BE49-F238E27FC236}">
                <a16:creationId xmlns:a16="http://schemas.microsoft.com/office/drawing/2014/main" id="{0BE127EF-9F02-4BA2-AF83-11E2D3AB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6197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Junk refused. Native tamper + replay reverted.</a:t>
            </a:r>
          </a:p>
        </p:txBody>
      </p:sp>
    </p:spTree>
    <p:extLst>
      <p:ext uri="{BB962C8B-B14F-4D97-AF65-F5344CB8AC3E}">
        <p14:creationId xmlns:p14="http://schemas.microsoft.com/office/powerpoint/2010/main" val="10041918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5">
            <a:extLst xmlns:a="http://schemas.openxmlformats.org/drawingml/2006/main">
              <a:ext uri="{FF2B5EF4-FFF2-40B4-BE49-F238E27FC236}">
                <a16:creationId xmlns:a16="http://schemas.microsoft.com/office/drawing/2014/main" id="{06945EFC-9C34-4250-B660-6C45DC9A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EXECUTION PROOF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0BED8D08-EDC4-4CBA-8DD4-5A1DDAE8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Native proof. Bounded credit. Public receipts.</a:t>
            </a:r>
          </a:p>
        </p:txBody>
      </p:sp>
      <p:sp>
        <p:nvSpPr>
          <p:cNvPr id="3" name="top-rule-5">
            <a:extLst xmlns:a="http://schemas.openxmlformats.org/drawingml/2006/main">
              <a:ext uri="{FF2B5EF4-FFF2-40B4-BE49-F238E27FC236}">
                <a16:creationId xmlns:a16="http://schemas.microsoft.com/office/drawing/2014/main" id="{3BB3BB89-A214-4471-A424-5D264A8F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0603C460-0803-498D-B667-6D0AE950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341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570"/>
                </a:solidFill>
              </a:defRPr>
            </a:pPr>
            <a:r>
              <a:rPr sz="975" b="0">
                <a:solidFill>
                  <a:srgbClr val="5E6570"/>
                </a:solidFill>
              </a:rPr>
              <a:t>05</a:t>
            </a:r>
          </a:p>
        </p:txBody>
      </p:sp>
      <p:sp>
        <p:nvSpPr>
          <p:cNvPr id="6" name="evidence-rail">
            <a:extLst xmlns:a="http://schemas.openxmlformats.org/drawingml/2006/main">
              <a:ext uri="{FF2B5EF4-FFF2-40B4-BE49-F238E27FC236}">
                <a16:creationId xmlns:a16="http://schemas.microsoft.com/office/drawing/2014/main" id="{99F616CA-5E7A-47BF-AF9C-351D1751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39433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verified-label">
            <a:extLst xmlns:a="http://schemas.openxmlformats.org/drawingml/2006/main">
              <a:ext uri="{FF2B5EF4-FFF2-40B4-BE49-F238E27FC236}">
                <a16:creationId xmlns:a16="http://schemas.microsoft.com/office/drawing/2014/main" id="{5154FA73-2CC9-4898-B925-5CA52610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14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7F5B"/>
                </a:solidFill>
              </a:defRPr>
            </a:pPr>
            <a:r>
              <a:rPr sz="1125" b="1">
                <a:solidFill>
                  <a:srgbClr val="157F5B"/>
                </a:solidFill>
              </a:rPr>
              <a:t>BORROWER PROFILE</a:t>
            </a:r>
          </a:p>
        </p:txBody>
      </p:sp>
      <p:sp>
        <p:nvSpPr>
          <p:cNvPr id="8" name="test-count">
            <a:extLst xmlns:a="http://schemas.openxmlformats.org/drawingml/2006/main">
              <a:ext uri="{FF2B5EF4-FFF2-40B4-BE49-F238E27FC236}">
                <a16:creationId xmlns:a16="http://schemas.microsoft.com/office/drawing/2014/main" id="{F9EBAE99-90BA-4D3C-AADA-9FBDD0DA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19350"/>
            <a:ext cx="123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100</a:t>
            </a:r>
          </a:p>
        </p:txBody>
      </p:sp>
      <p:sp>
        <p:nvSpPr>
          <p:cNvPr id="9" name="test-caption">
            <a:extLst xmlns:a="http://schemas.openxmlformats.org/drawingml/2006/main">
              <a:ext uri="{FF2B5EF4-FFF2-40B4-BE49-F238E27FC236}">
                <a16:creationId xmlns:a16="http://schemas.microsoft.com/office/drawing/2014/main" id="{68BC0270-288B-448E-A6C0-627615AB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19375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mUSD credit opened</a:t>
            </a:r>
          </a:p>
        </p:txBody>
      </p:sp>
      <p:sp>
        <p:nvSpPr>
          <p:cNvPr id="10" name="verified-list">
            <a:extLst xmlns:a="http://schemas.openxmlformats.org/drawingml/2006/main">
              <a:ext uri="{FF2B5EF4-FFF2-40B4-BE49-F238E27FC236}">
                <a16:creationId xmlns:a16="http://schemas.microsoft.com/office/drawing/2014/main" id="{5C87A048-279B-4A32-A4A8-308E6D3D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528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2 lines · 1 demo borrower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50 borrowed − 0 repaid = 50 debt</a:t>
            </a:r>
          </a:p>
        </p:txBody>
      </p:sp>
      <p:sp>
        <p:nvSpPr>
          <p:cNvPr id="11" name="evidence-rule">
            <a:extLst xmlns:a="http://schemas.openxmlformats.org/drawingml/2006/main">
              <a:ext uri="{FF2B5EF4-FFF2-40B4-BE49-F238E27FC236}">
                <a16:creationId xmlns:a16="http://schemas.microsoft.com/office/drawing/2014/main" id="{D04F6BAE-E87A-4421-B3A6-06CC3DA8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05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ive-label">
            <a:extLst xmlns:a="http://schemas.openxmlformats.org/drawingml/2006/main">
              <a:ext uri="{FF2B5EF4-FFF2-40B4-BE49-F238E27FC236}">
                <a16:creationId xmlns:a16="http://schemas.microsoft.com/office/drawing/2014/main" id="{728F90AC-7F2A-421A-B836-522F9B14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52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6700"/>
                </a:solidFill>
              </a:defRPr>
            </a:pPr>
            <a:r>
              <a:rPr sz="1125" b="1">
                <a:solidFill>
                  <a:srgbClr val="9A6700"/>
                </a:solidFill>
              </a:rPr>
              <a:t>STILL PENDING</a:t>
            </a:r>
          </a:p>
        </p:txBody>
      </p:sp>
      <p:sp>
        <p:nvSpPr>
          <p:cNvPr id="13" name="live-list">
            <a:extLst xmlns:a="http://schemas.openxmlformats.org/drawingml/2006/main">
              <a:ext uri="{FF2B5EF4-FFF2-40B4-BE49-F238E27FC236}">
                <a16:creationId xmlns:a16="http://schemas.microsoft.com/office/drawing/2014/main" id="{745F18A8-78FB-442D-90E8-4B0C567F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149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Maturity repayment · final media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Operational drills · submission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400050" y="2057400"/>
          <a:ext xmlns:a="http://schemas.openxmlformats.org/drawingml/2006/main" cx="7067550" cy="3219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43100"/>
                <a:gridCol w="2438400"/>
                <a:gridCol w="2686050"/>
              </a:tblGrid>
              <a:tr h="6438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77FEF"/>
                          </a:solidFill>
                          <a:latin typeface="Calibri"/>
                          <a:ea typeface="Calibri"/>
                          <a:cs typeface="Calibri"/>
                        </a:rPr>
                        <a:t>PUBLIC EVIDENCE</a:t>
                      </a:r>
                    </a:p>
                  </a:txBody>
                  <a:tcPr marL="133350" marR="114300" marT="114300" marB="114300">
                    <a:solidFill>
                      <a:srgbClr val="D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77FEF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133350" marR="114300" marT="114300" marB="114300">
                    <a:solidFill>
                      <a:srgbClr val="D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77FEF"/>
                          </a:solidFill>
                          <a:latin typeface="Calibri"/>
                          <a:ea typeface="Calibri"/>
                          <a:cs typeface="Calibri"/>
                        </a:rPr>
                        <a:t>CHAIN BLOCK</a:t>
                      </a:r>
                    </a:p>
                  </a:txBody>
                  <a:tcPr marL="133350" marR="114300" marT="114300" marB="114300">
                    <a:solidFill>
                      <a:srgbClr val="D6F0FC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Browser escrow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100 mUSDC locked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11,668,922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Native 0x0FD2 proof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50 mUSD line · 9 Sep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5,458,589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Borrower draw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50 mUSD · 5 Sep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5,434,865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Tamper / replay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Reverted · 5 Sep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5,434,321 / 507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A9E58-CC4D-4845-B4C7-A0E361D1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67350"/>
            <a:ext cx="681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9 Sep: 289,980 gas · 548.5s queue → executed (includes wait)</a:t>
            </a:r>
          </a:p>
          <a:p xmlns:a="http://schemas.openxmlformats.org/drawingml/2006/main">
            <a:pPr>
              <a:buNone/>
              <a:defRPr sz="1275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Browser lock + signed queue; page refresh restored the job.</a:t>
            </a:r>
          </a:p>
        </p:txBody>
      </p:sp>
    </p:spTree>
    <p:extLst>
      <p:ext uri="{BB962C8B-B14F-4D97-AF65-F5344CB8AC3E}">
        <p14:creationId xmlns:p14="http://schemas.microsoft.com/office/powerpoint/2010/main" val="19358649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oadmap-eyebrow">
            <a:extLst xmlns:a="http://schemas.openxmlformats.org/drawingml/2006/main">
              <a:ext uri="{FF2B5EF4-FFF2-40B4-BE49-F238E27FC236}">
                <a16:creationId xmlns:a16="http://schemas.microsoft.com/office/drawing/2014/main" id="{75412D1F-2C67-413D-89CC-32E8A4DD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MARKET → CREDITCOIN ECOSYSTEM</a:t>
            </a:r>
          </a:p>
        </p:txBody>
      </p:sp>
      <p:sp>
        <p:nvSpPr>
          <p:cNvPr id="2" name="roadmap-title">
            <a:extLst xmlns:a="http://schemas.openxmlformats.org/drawingml/2006/main">
              <a:ext uri="{FF2B5EF4-FFF2-40B4-BE49-F238E27FC236}">
                <a16:creationId xmlns:a16="http://schemas.microsoft.com/office/drawing/2014/main" id="{1BB427DF-5832-4458-AC1D-90FC509F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962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Risk teams first.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Proof-gated credit for Creditcoin.</a:t>
            </a:r>
          </a:p>
        </p:txBody>
      </p:sp>
      <p:sp>
        <p:nvSpPr>
          <p:cNvPr id="3" name="roadmap-stage-0">
            <a:extLst xmlns:a="http://schemas.openxmlformats.org/drawingml/2006/main">
              <a:ext uri="{FF2B5EF4-FFF2-40B4-BE49-F238E27FC236}">
                <a16:creationId xmlns:a16="http://schemas.microsoft.com/office/drawing/2014/main" id="{7FBB6141-B355-4CE1-BF79-9A6C8376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3337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admap-when-0">
            <a:extLst xmlns:a="http://schemas.openxmlformats.org/drawingml/2006/main">
              <a:ext uri="{FF2B5EF4-FFF2-40B4-BE49-F238E27FC236}">
                <a16:creationId xmlns:a16="http://schemas.microsoft.com/office/drawing/2014/main" id="{1B823668-9D48-4914-AAE8-9C128D90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TARGET</a:t>
            </a:r>
          </a:p>
        </p:txBody>
      </p:sp>
      <p:sp>
        <p:nvSpPr>
          <p:cNvPr id="5" name="roadmap-heading-0">
            <a:extLst xmlns:a="http://schemas.openxmlformats.org/drawingml/2006/main">
              <a:ext uri="{FF2B5EF4-FFF2-40B4-BE49-F238E27FC236}">
                <a16:creationId xmlns:a16="http://schemas.microsoft.com/office/drawing/2014/main" id="{54945AE9-C123-4F67-A48D-14BC0202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Lenders + risk teams</a:t>
            </a:r>
          </a:p>
        </p:txBody>
      </p:sp>
      <p:sp>
        <p:nvSpPr>
          <p:cNvPr id="6" name="roadmap-body-0">
            <a:extLst xmlns:a="http://schemas.openxmlformats.org/drawingml/2006/main">
              <a:ext uri="{FF2B5EF4-FFF2-40B4-BE49-F238E27FC236}">
                <a16:creationId xmlns:a16="http://schemas.microsoft.com/office/drawing/2014/main" id="{EAFA4D3F-CB5C-4C1E-B618-58CECDD3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Escrow facts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without bridging</a:t>
            </a:r>
          </a:p>
        </p:txBody>
      </p:sp>
      <p:sp>
        <p:nvSpPr>
          <p:cNvPr id="7" name="roadmap-stage-1">
            <a:extLst xmlns:a="http://schemas.openxmlformats.org/drawingml/2006/main">
              <a:ext uri="{FF2B5EF4-FFF2-40B4-BE49-F238E27FC236}">
                <a16:creationId xmlns:a16="http://schemas.microsoft.com/office/drawing/2014/main" id="{94790413-EFA2-498E-A99F-AACE27C0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33337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admap-when-1">
            <a:extLst xmlns:a="http://schemas.openxmlformats.org/drawingml/2006/main">
              <a:ext uri="{FF2B5EF4-FFF2-40B4-BE49-F238E27FC236}">
                <a16:creationId xmlns:a16="http://schemas.microsoft.com/office/drawing/2014/main" id="{651E7183-E254-4DA5-A225-9CEC370F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DISTRIBUTE</a:t>
            </a:r>
          </a:p>
        </p:txBody>
      </p:sp>
      <p:sp>
        <p:nvSpPr>
          <p:cNvPr id="9" name="roadmap-heading-1">
            <a:extLst xmlns:a="http://schemas.openxmlformats.org/drawingml/2006/main">
              <a:ext uri="{FF2B5EF4-FFF2-40B4-BE49-F238E27FC236}">
                <a16:creationId xmlns:a16="http://schemas.microsoft.com/office/drawing/2014/main" id="{BB724828-F4F4-4C90-842D-955332E1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24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5-minute setup</a:t>
            </a:r>
          </a:p>
        </p:txBody>
      </p:sp>
      <p:sp>
        <p:nvSpPr>
          <p:cNvPr id="10" name="roadmap-body-1">
            <a:extLst xmlns:a="http://schemas.openxmlformats.org/drawingml/2006/main">
              <a:ext uri="{FF2B5EF4-FFF2-40B4-BE49-F238E27FC236}">
                <a16:creationId xmlns:a16="http://schemas.microsoft.com/office/drawing/2014/main" id="{75BED92D-C4BA-4E56-AFDB-F1A9B46B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API + event schema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Attestation time varies</a:t>
            </a:r>
          </a:p>
        </p:txBody>
      </p:sp>
      <p:sp>
        <p:nvSpPr>
          <p:cNvPr id="11" name="roadmap-stage-2">
            <a:extLst xmlns:a="http://schemas.openxmlformats.org/drawingml/2006/main">
              <a:ext uri="{FF2B5EF4-FFF2-40B4-BE49-F238E27FC236}">
                <a16:creationId xmlns:a16="http://schemas.microsoft.com/office/drawing/2014/main" id="{4DCA8A2A-ECB2-4B88-8EAA-404A0F1F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33337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oadmap-when-2">
            <a:extLst xmlns:a="http://schemas.openxmlformats.org/drawingml/2006/main">
              <a:ext uri="{FF2B5EF4-FFF2-40B4-BE49-F238E27FC236}">
                <a16:creationId xmlns:a16="http://schemas.microsoft.com/office/drawing/2014/main" id="{1DCE7213-6EC8-450D-B8E5-0D63DFB7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05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EXPAND</a:t>
            </a:r>
          </a:p>
        </p:txBody>
      </p:sp>
      <p:sp>
        <p:nvSpPr>
          <p:cNvPr id="13" name="roadmap-heading-2">
            <a:extLst xmlns:a="http://schemas.openxmlformats.org/drawingml/2006/main">
              <a:ext uri="{FF2B5EF4-FFF2-40B4-BE49-F238E27FC236}">
                <a16:creationId xmlns:a16="http://schemas.microsoft.com/office/drawing/2014/main" id="{867CF1A4-BA53-44BE-B1F8-B57DF3EF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Reusable profile</a:t>
            </a:r>
          </a:p>
        </p:txBody>
      </p:sp>
      <p:sp>
        <p:nvSpPr>
          <p:cNvPr id="14" name="roadmap-body-2">
            <a:extLst xmlns:a="http://schemas.openxmlformats.org/drawingml/2006/main">
              <a:ext uri="{FF2B5EF4-FFF2-40B4-BE49-F238E27FC236}">
                <a16:creationId xmlns:a16="http://schemas.microsoft.com/office/drawing/2014/main" id="{72961819-C741-46C8-A660-1DD07F4D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Proof-opened accounting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No liquidation or release</a:t>
            </a:r>
          </a:p>
        </p:txBody>
      </p:sp>
      <p:sp>
        <p:nvSpPr>
          <p:cNvPr id="15" name="roadmap-url">
            <a:extLst xmlns:a="http://schemas.openxmlformats.org/drawingml/2006/main">
              <a:ext uri="{FF2B5EF4-FFF2-40B4-BE49-F238E27FC236}">
                <a16:creationId xmlns:a16="http://schemas.microsoft.com/office/drawing/2014/main" id="{E55C27EB-677F-4F38-ADB6-B59CF75A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Solo builder · contracts, worker, web</a:t>
            </a:r>
          </a:p>
        </p:txBody>
      </p:sp>
      <p:sp>
        <p:nvSpPr>
          <p:cNvPr id="16" name="roadmap-repo">
            <a:extLst xmlns:a="http://schemas.openxmlformats.org/drawingml/2006/main">
              <a:ext uri="{FF2B5EF4-FFF2-40B4-BE49-F238E27FC236}">
                <a16:creationId xmlns:a16="http://schemas.microsoft.com/office/drawing/2014/main" id="{414C4B5E-B2C8-457E-9BFA-DF62657A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924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E6570"/>
                </a:solidFill>
              </a:defRPr>
            </a:pPr>
            <a:r>
              <a:rPr sz="1500" b="0">
                <a:solidFill>
                  <a:srgbClr val="5E6570"/>
                </a:solidFill>
              </a:rPr>
              <a:t>Public proof + code →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510f3a2c44ee6"/>
          <a:stretch xmlns:a="http://schemas.openxmlformats.org/drawingml/2006/main"/>
        </p:blipFill>
        <p:spPr>
          <a:xfrm xmlns:a="http://schemas.openxmlformats.org/drawingml/2006/main">
            <a:off x="10420350" y="5238750"/>
            <a:ext cx="1257300" cy="1257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8525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2026-09-10T11:40:25.2480000Z</dcterms:created>
  <dcterms:modified xsi:type="dcterms:W3CDTF">2026-09-10T11:40:25.2480000Z</dcterms:modified>
</coreProperties>
</file>