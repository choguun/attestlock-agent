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f74e9c26594dc8" /><Relationship Type="http://schemas.openxmlformats.org/officeDocument/2006/relationships/extended-properties" Target="/docProps/app.xml" Id="R9448805db9f9404d" /><Relationship Type="http://schemas.openxmlformats.org/officeDocument/2006/relationships/officeDocument" Target="/ppt/presentation.xml" Id="R6b0177757b324c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8afe08ed344a3"/>
  </p:sldMasterIdLst>
  <p:notesMasterIdLst>
    <p:notesMasterId xmlns:r="http://schemas.openxmlformats.org/officeDocument/2006/relationships" r:id="R44aa0eb7e2f14dbf"/>
  </p:notesMasterIdLst>
  <p:sldIdLst>
    <p:sldId xmlns:r="http://schemas.openxmlformats.org/officeDocument/2006/relationships" id="256" r:id="R8253d72aa210489c"/>
    <p:sldId xmlns:r="http://schemas.openxmlformats.org/officeDocument/2006/relationships" id="257" r:id="Rc5bbb8280b9c4d91"/>
    <p:sldId xmlns:r="http://schemas.openxmlformats.org/officeDocument/2006/relationships" id="258" r:id="R10d957a3823f4a63"/>
    <p:sldId xmlns:r="http://schemas.openxmlformats.org/officeDocument/2006/relationships" id="259" r:id="R75fd4e0f635546aa"/>
    <p:sldId xmlns:r="http://schemas.openxmlformats.org/officeDocument/2006/relationships" id="260" r:id="R9f62f4ebd494429a"/>
    <p:sldId xmlns:r="http://schemas.openxmlformats.org/officeDocument/2006/relationships" id="261" r:id="R983bacd3b0ba45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82bfdecbf4cd1" /><Relationship Type="http://schemas.openxmlformats.org/officeDocument/2006/relationships/slideMaster" Target="/ppt/slideMasters/slideMaster1.xml" Id="Rd158afe08ed344a3" /><Relationship Type="http://schemas.openxmlformats.org/officeDocument/2006/relationships/notesMaster" Target="/ppt/notesMasters/notesMaster1.xml" Id="R44aa0eb7e2f14dbf" /><Relationship Type="http://schemas.openxmlformats.org/officeDocument/2006/relationships/presProps" Target="/ppt/presProps.xml" Id="R4079ce5cccc4447b" /><Relationship Type="http://schemas.openxmlformats.org/officeDocument/2006/relationships/tableStyles" Target="/ppt/tableStyles.xml" Id="R03236aeb3f2b4167" /><Relationship Type="http://schemas.openxmlformats.org/officeDocument/2006/relationships/slide" Target="/ppt/slides/slide1.xml" Id="R8253d72aa210489c" /><Relationship Type="http://schemas.openxmlformats.org/officeDocument/2006/relationships/slide" Target="/ppt/slides/slide2.xml" Id="Rc5bbb8280b9c4d91" /><Relationship Type="http://schemas.openxmlformats.org/officeDocument/2006/relationships/slide" Target="/ppt/slides/slide3.xml" Id="R10d957a3823f4a63" /><Relationship Type="http://schemas.openxmlformats.org/officeDocument/2006/relationships/slide" Target="/ppt/slides/slide4.xml" Id="R75fd4e0f635546aa" /><Relationship Type="http://schemas.openxmlformats.org/officeDocument/2006/relationships/slide" Target="/ppt/slides/slide5.xml" Id="R9f62f4ebd494429a" /><Relationship Type="http://schemas.openxmlformats.org/officeDocument/2006/relationships/slide" Target="/ppt/slides/slide6.xml" Id="R983bacd3b0ba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b3fd9000443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e6bb4adc948fa" /><Relationship Type="http://schemas.openxmlformats.org/officeDocument/2006/relationships/notesMaster" Target="/ppt/notesMasters/notesMaster1.xml" Id="R61e5a0930f32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85c4db6a99488c" /><Relationship Type="http://schemas.openxmlformats.org/officeDocument/2006/relationships/notesMaster" Target="/ppt/notesMasters/notesMaster1.xml" Id="R8d5dbddfc6414f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f5aa4e267452c" /><Relationship Type="http://schemas.openxmlformats.org/officeDocument/2006/relationships/notesMaster" Target="/ppt/notesMasters/notesMaster1.xml" Id="Rec5acc8cc67e43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eb28deed3c4277" /><Relationship Type="http://schemas.openxmlformats.org/officeDocument/2006/relationships/notesMaster" Target="/ppt/notesMasters/notesMaster1.xml" Id="R4485a7d3ca844b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27674fa9c42fc" /><Relationship Type="http://schemas.openxmlformats.org/officeDocument/2006/relationships/notesMaster" Target="/ppt/notesMasters/notesMaster1.xml" Id="R6aeb0c8f60c347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74272a39c742fb" /><Relationship Type="http://schemas.openxmlformats.org/officeDocument/2006/relationships/notesMaster" Target="/ppt/notesMasters/notesMaster1.xml" Id="R8295e6029c7348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https://dorahacks.io/hackathon/buidl-ctc-2026-fall/detail (hackathon context; accessed 2026-09-03)</a:t>
            </a:r>
          </a:p>
          <a:p xmlns:a="http://schemas.openxmlformats.org/drawingml/2006/main">
            <a:r>
              <a:t>- https://github.com/choguun/AttestLock-Agent (product implementation;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https://docs.attestcoin.org/ (cross-chain proof model; accessed 2026-09-03)</a:t>
            </a:r>
          </a:p>
          <a:p xmlns:a="http://schemas.openxmlformats.org/drawingml/2006/main">
            <a:r>
              <a:t>- https://github.com/choguun/AttestLock-Agent/blob/main/docs/THREAT_MODEL.md (system boundary;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https://github.com/gluwa/attestcoin-protocol-examples (official proof ABI and dependencies; accessed 2026-09-03)</a:t>
            </a:r>
          </a:p>
          <a:p xmlns:a="http://schemas.openxmlformats.org/drawingml/2006/main">
            <a:r>
              <a:t>- https://docs.attestcoin.org/ (BlockProver and Proof Builder; accessed 2026-09-03)</a:t>
            </a:r>
          </a:p>
          <a:p xmlns:a="http://schemas.openxmlformats.org/drawingml/2006/main">
            <a:r>
              <a:t>- https://github.com/choguun/AttestLock-Agent/blob/main/docs/ATTESTCOIN.md (implemented flow;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https://github.com/choguun/AttestLock-Agent/blob/main/contracts/src/creditcoin/AttestLockASC.sol (destination checks; accessed 2026-09-03)</a:t>
            </a:r>
          </a:p>
          <a:p xmlns:a="http://schemas.openxmlformats.org/drawingml/2006/main">
            <a:r>
              <a:t>- https://github.com/choguun/AttestLock-Agent/blob/main/contracts/src/creditcoin/CreditPool.sol (borrow authorization; accessed 2026-09-03)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September 5, 2026: native proof opened 50 mUSD credit, then the exact borrower drew 50 mUSD through the hosted app/Rabby at 12:53:30 UTC. The draw checker binds signer, calldata, receipt events and historical balances/profile deltas. The wallet modal itself was not recorded. Source faucet/approve/lock were signed via the encrypted local borrower, not a complete hosted-browser flow. Post-maturity repayment (September 12 at 11:21:15 UTC), browser onboarding, videos and final submission remain pending. 59.6 seconds is hosted API queue-to-executed reconciliation after attestation was available, not total lock-to-proof latency. One demo borrower is not independent adoption. Scheduled production smoke 33966292097 passed release b7e71f2; the eventual submission release requires its own scheduled pass.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https://creditcoin-testnet.blockscout.com/tx/0xa064d130e0aaaa4e6068e0cb2bb3f50d46bc531a004273d8dc28827ff91a05d9 (accessed 2026-09-05)</a:t>
            </a:r>
          </a:p>
          <a:p xmlns:a="http://schemas.openxmlformats.org/drawingml/2006/main">
            <a:r>
              <a:t>- https://eth-sepolia.blockscout.com/tx/0xf93882f35ac789132fbe46205d699fbbb01b254862b0624e3ea20f4d11491b8f (accessed 2026-09-05)</a:t>
            </a:r>
          </a:p>
          <a:p xmlns:a="http://schemas.openxmlformats.org/drawingml/2006/main">
            <a:r>
              <a:t>- https://creditcoin-testnet.blockscout.com/tx/0xe13fdfc8175bad436c3ae45b71e85a744ae2f4c3f42caef8b25b3645a7fc2312 (accessed 2026-09-05)</a:t>
            </a:r>
          </a:p>
          <a:p xmlns:a="http://schemas.openxmlformats.org/drawingml/2006/main">
            <a:r>
              <a:t>- https://creditcoin-testnet.blockscout.com/tx/0x4f608b360d164a90d9609036e2f2dfc0bcd4682072d87534347d7a02d14f5a6c (accessed 2026-09-05)</a:t>
            </a:r>
          </a:p>
          <a:p xmlns:a="http://schemas.openxmlformats.org/drawingml/2006/main">
            <a:r>
              <a:t>- https://attestlock-worker-production.up.railway.app/api/jobs/bd5fdaf1-8a8f-4334-ae1f-6a5916080f28 (accessed 2026-09-05)</a:t>
            </a:r>
          </a:p>
          <a:p xmlns:a="http://schemas.openxmlformats.org/drawingml/2006/main">
            <a:r>
              <a:t>- https://github.com/choguun/AttestLock-Agent/actions/runs/33966292097 (accessed 2026-09-05)</a:t>
            </a:r>
          </a:p>
          <a:p xmlns:a="http://schemas.openxmlformats.org/drawingml/2006/main">
            <a:r>
              <a:t>- https://creditcoin-testnet.blockscout.com/tx/0xb631739d1a05410e3ca6a26b88de068ea514cec1d18b758d8aebde49e684dba4 (accessed 2026-09-05)</a:t>
            </a:r>
          </a:p>
          <a:p xmlns:a="http://schemas.openxmlformats.org/drawingml/2006/main">
            <a:r>
              <a:t>- https://github.com/choguun/AttestLock-Agent/blob/main/evidence/borrow-2026-09-05.json (recorded 2026-09-05)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September 5, 2026: native proof opened 50 mUSD credit, then the exact borrower drew 50 mUSD through the hosted app/Rabby at 12:53:30 UTC. The draw checker binds signer, calldata, receipt events and historical balances/profile deltas. The wallet modal itself was not recorded. Source faucet/approve/lock were signed via the encrypted local borrower, not a complete hosted-browser flow. Post-maturity repayment (September 12 at 11:21:15 UTC), browser onboarding, videos and final submission remain pending. 59.6 seconds is hosted API queue-to-executed reconciliation after attestation was available, not total lock-to-proof latency. One demo borrower is not independent adoption. Scheduled production smoke 33966292097 passed release b7e71f2; the eventual submission release requires its own scheduled pass.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https://github.com/choguun/AttestLock-Agent/blob/main/docs/ONBOARDING.md (accessed 2026-09-05)</a:t>
            </a:r>
          </a:p>
          <a:p xmlns:a="http://schemas.openxmlformats.org/drawingml/2006/main">
            <a:r>
              <a:t>- https://github.com/choguun/AttestLock-Agent/blob/main/docs/COMPETITIVE.md (accessed 2026-09-05)</a:t>
            </a:r>
          </a:p>
          <a:p xmlns:a="http://schemas.openxmlformats.org/drawingml/2006/main">
            <a:r>
              <a:t>- https://creditcoin.org/Credal (accessed 2026-09-05)</a:t>
            </a:r>
          </a:p>
          <a:p xmlns:a="http://schemas.openxmlformats.org/drawingml/2006/main">
            <a:r>
              <a:t>- https://github.com/choguun/AttestLock-Agent/blob/main/docs/LIVE_TESTNET.md (accessed 2026-09-05)</a:t>
            </a:r>
          </a:p>
          <a:p xmlns:a="http://schemas.openxmlformats.org/drawingml/2006/main">
            <a:r>
              <a:t>- https://creditcoin-testnet.blockscout.com/tx/0xb631739d1a05410e3ca6a26b88de068ea514cec1d18b758d8aebde49e684dba4 (accessed 2026-09-05)</a:t>
            </a:r>
          </a:p>
          <a:p xmlns:a="http://schemas.openxmlformats.org/drawingml/2006/main">
            <a:r>
              <a:t>- https://github.com/choguun/AttestLock-Agent/blob/main/evidence/borrow-2026-09-05.json (recorded 2026-09-05)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1fedca16841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be821c07e04788" /><Relationship Type="http://schemas.openxmlformats.org/officeDocument/2006/relationships/slideLayout" Target="/ppt/slideLayouts/slideLayout1.xml" Id="R9ba301342029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301342029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8d63646934dcf" /><Relationship Type="http://schemas.openxmlformats.org/officeDocument/2006/relationships/notesSlide" Target="/ppt/notesSlides/notesSlide1.xml" Id="R6ba8d5996b5d49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2a15122d245f8" /><Relationship Type="http://schemas.openxmlformats.org/officeDocument/2006/relationships/notesSlide" Target="/ppt/notesSlides/notesSlide2.xml" Id="Ra02d981071d041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16c8aee5b43bb" /><Relationship Type="http://schemas.openxmlformats.org/officeDocument/2006/relationships/notesSlide" Target="/ppt/notesSlides/notesSlide3.xml" Id="Rcd938e0331e2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481968274c66" /><Relationship Type="http://schemas.openxmlformats.org/officeDocument/2006/relationships/notesSlide" Target="/ppt/notesSlides/notesSlide4.xml" Id="R134ae417573143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7cd1ca63741df" /><Relationship Type="http://schemas.openxmlformats.org/officeDocument/2006/relationships/notesSlide" Target="/ppt/notesSlides/notesSlide5.xml" Id="R0638768e3430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75f50b3f24614" /><Relationship Type="http://schemas.openxmlformats.org/officeDocument/2006/relationships/image" Target="/ppt/media/image.png" Id="Raa0d6e46a2524375" /><Relationship Type="http://schemas.openxmlformats.org/officeDocument/2006/relationships/notesSlide" Target="/ppt/notesSlides/notesSlide6.xml" Id="R8d49b2a83b4041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BA39BF4-2CBE-4C22-9C4D-B778643A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ATTESTLOCK · CREDITCOIN DEFI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26AD4BE-5802-4AE7-BEC5-105123E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Credit without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moving collateral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A492BC0-64F6-4792-B60D-BA7B69D1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657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4716AC-D4EA-47D1-A731-4BCD8B3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Lock mock USDC on Sepolia.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5E6570"/>
                </a:solidFill>
              </a:defRPr>
            </a:pPr>
            <a:r>
              <a:rPr sz="1950" b="0">
                <a:solidFill>
                  <a:srgbClr val="5E6570"/>
                </a:solidFill>
              </a:rPr>
              <a:t>Prove the receipt. Borrow on Creditcoin.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31DB2381-2D7F-4A55-8A64-F58BB94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0050"/>
            <a:ext cx="29146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roof-label">
            <a:extLst xmlns:a="http://schemas.openxmlformats.org/drawingml/2006/main">
              <a:ext uri="{FF2B5EF4-FFF2-40B4-BE49-F238E27FC236}">
                <a16:creationId xmlns:a16="http://schemas.microsoft.com/office/drawing/2014/main" id="{7F346DF1-2D4A-4B80-88E3-7B446DE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NO VALID PROOF</a:t>
            </a:r>
          </a:p>
        </p:txBody>
      </p:sp>
      <p:sp>
        <p:nvSpPr>
          <p:cNvPr id="7" name="cover-zero">
            <a:extLst xmlns:a="http://schemas.openxmlformats.org/drawingml/2006/main">
              <a:ext uri="{FF2B5EF4-FFF2-40B4-BE49-F238E27FC236}">
                <a16:creationId xmlns:a16="http://schemas.microsoft.com/office/drawing/2014/main" id="{8E16DCCF-C78C-4CD5-A85F-972665C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145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000000"/>
                </a:solidFill>
              </a:defRPr>
            </a:pPr>
            <a:r>
              <a:rPr sz="69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" name="cover-credit-lines">
            <a:extLst xmlns:a="http://schemas.openxmlformats.org/drawingml/2006/main">
              <a:ext uri="{FF2B5EF4-FFF2-40B4-BE49-F238E27FC236}">
                <a16:creationId xmlns:a16="http://schemas.microsoft.com/office/drawing/2014/main" id="{2DA60F38-57FE-4E26-BB64-509DCE1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credit lines</a:t>
            </a:r>
          </a:p>
        </p:txBody>
      </p:sp>
      <p:sp>
        <p:nvSpPr>
          <p:cNvPr id="9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3E09F6BA-F124-4998-9E4F-B9AB458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433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claim">
            <a:extLst xmlns:a="http://schemas.openxmlformats.org/drawingml/2006/main">
              <a:ext uri="{FF2B5EF4-FFF2-40B4-BE49-F238E27FC236}">
                <a16:creationId xmlns:a16="http://schemas.microsoft.com/office/drawing/2014/main" id="{97BD7699-0DF2-40DB-A912-80739DC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481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Attestcoin is the gate,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E6570"/>
                </a:solidFill>
              </a:defRPr>
            </a:pPr>
            <a:r>
              <a:rPr sz="1425" b="0">
                <a:solidFill>
                  <a:srgbClr val="5E6570"/>
                </a:solidFill>
              </a:rPr>
              <a:t>not a decorative oracle.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984C3A9-92CD-49F5-9B04-84BAD73F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BUIDL CTC 2026 FALL</a:t>
            </a:r>
          </a:p>
        </p:txBody>
      </p:sp>
    </p:spTree>
    <p:extLst>
      <p:ext uri="{BB962C8B-B14F-4D97-AF65-F5344CB8AC3E}">
        <p14:creationId xmlns:p14="http://schemas.microsoft.com/office/powerpoint/2010/main" val="1501885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2">
            <a:extLst xmlns:a="http://schemas.openxmlformats.org/drawingml/2006/main">
              <a:ext uri="{FF2B5EF4-FFF2-40B4-BE49-F238E27FC236}">
                <a16:creationId xmlns:a16="http://schemas.microsoft.com/office/drawing/2014/main" id="{1438C55E-D0F1-48FE-ADAD-237808F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PROBLEM → PRODUCT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C216EB5-B1A3-4FEB-BF58-CFF178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Cross-chain credit has a reporting problem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43F72D93-BC1A-4B0F-BB1D-C9637D22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86E5C5C-E4B0-4C30-9631-E48744E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5" name="today-label">
            <a:extLst xmlns:a="http://schemas.openxmlformats.org/drawingml/2006/main">
              <a:ext uri="{FF2B5EF4-FFF2-40B4-BE49-F238E27FC236}">
                <a16:creationId xmlns:a16="http://schemas.microsoft.com/office/drawing/2014/main" id="{A2DA3966-C128-42C7-BACD-DD4AA36F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570"/>
                </a:solidFill>
              </a:defRPr>
            </a:pPr>
            <a:r>
              <a:rPr sz="1200" b="1">
                <a:solidFill>
                  <a:srgbClr val="5E6570"/>
                </a:solidFill>
              </a:rPr>
              <a:t>TODAY</a:t>
            </a:r>
          </a:p>
        </p:txBody>
      </p:sp>
      <p:sp>
        <p:nvSpPr>
          <p:cNvPr id="6" name="today-copy">
            <a:extLst xmlns:a="http://schemas.openxmlformats.org/drawingml/2006/main">
              <a:ext uri="{FF2B5EF4-FFF2-40B4-BE49-F238E27FC236}">
                <a16:creationId xmlns:a16="http://schemas.microsoft.com/office/drawing/2014/main" id="{75F194A2-ACB4-4CAA-BB19-4015E90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A bridge, oracle signer, or operator says collateral exists.</a:t>
            </a:r>
          </a:p>
        </p:txBody>
      </p:sp>
      <p:sp>
        <p:nvSpPr>
          <p:cNvPr id="7" name="today-detail">
            <a:extLst xmlns:a="http://schemas.openxmlformats.org/drawingml/2006/main">
              <a:ext uri="{FF2B5EF4-FFF2-40B4-BE49-F238E27FC236}">
                <a16:creationId xmlns:a16="http://schemas.microsoft.com/office/drawing/2014/main" id="{AD131F87-0D6E-4517-8BBC-628CD6F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reporting layer becomes part of the solvency boundary.</a:t>
            </a:r>
          </a:p>
        </p:txBody>
      </p:sp>
      <p:sp>
        <p:nvSpPr>
          <p:cNvPr id="8" name="mid-divider">
            <a:extLst xmlns:a="http://schemas.openxmlformats.org/drawingml/2006/main">
              <a:ext uri="{FF2B5EF4-FFF2-40B4-BE49-F238E27FC236}">
                <a16:creationId xmlns:a16="http://schemas.microsoft.com/office/drawing/2014/main" id="{576D667A-DB79-47E8-968F-11CE6F5D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ttestlock-label">
            <a:extLst xmlns:a="http://schemas.openxmlformats.org/drawingml/2006/main">
              <a:ext uri="{FF2B5EF4-FFF2-40B4-BE49-F238E27FC236}">
                <a16:creationId xmlns:a16="http://schemas.microsoft.com/office/drawing/2014/main" id="{36F8CB3A-C6A2-4BEF-8D29-069400C6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ATTESTLOCK</a:t>
            </a:r>
          </a:p>
        </p:txBody>
      </p:sp>
      <p:sp>
        <p:nvSpPr>
          <p:cNvPr id="10" name="attestlock-copy">
            <a:extLst xmlns:a="http://schemas.openxmlformats.org/drawingml/2006/main">
              <a:ext uri="{FF2B5EF4-FFF2-40B4-BE49-F238E27FC236}">
                <a16:creationId xmlns:a16="http://schemas.microsoft.com/office/drawing/2014/main" id="{F1350CD4-4926-462D-A81F-639F632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Creditcoin verifies the exact successful escrow receipt.</a:t>
            </a:r>
          </a:p>
        </p:txBody>
      </p:sp>
      <p:sp>
        <p:nvSpPr>
          <p:cNvPr id="11" name="attestlock-detail">
            <a:extLst xmlns:a="http://schemas.openxmlformats.org/drawingml/2006/main">
              <a:ext uri="{FF2B5EF4-FFF2-40B4-BE49-F238E27FC236}">
                <a16:creationId xmlns:a16="http://schemas.microsoft.com/office/drawing/2014/main" id="{80A974FC-35A7-4467-A598-B5523BA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66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The asset stays on Sepolia. The line opens only after BlockProver succeeds.</a:t>
            </a:r>
          </a:p>
        </p:txBody>
      </p:sp>
      <p:sp>
        <p:nvSpPr>
          <p:cNvPr id="12" name="comparison-accent">
            <a:extLst xmlns:a="http://schemas.openxmlformats.org/drawingml/2006/main">
              <a:ext uri="{FF2B5EF4-FFF2-40B4-BE49-F238E27FC236}">
                <a16:creationId xmlns:a16="http://schemas.microsoft.com/office/drawing/2014/main" id="{22842A21-D764-424F-AEFA-84A17859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05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4442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">
            <a:extLst xmlns:a="http://schemas.openxmlformats.org/drawingml/2006/main">
              <a:ext uri="{FF2B5EF4-FFF2-40B4-BE49-F238E27FC236}">
                <a16:creationId xmlns:a16="http://schemas.microsoft.com/office/drawing/2014/main" id="{BCFBDAD7-69F5-4D7C-BDC5-8A2AB55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PROOF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5DEA8E8-C99C-44ED-B404-B18B1D6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One proof opens one bounded line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B475EB3B-76AF-48D5-8691-BE1C391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7D199794-5615-4BEE-9306-250F5569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F687483F-6BDE-41B7-BB0C-850D817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C548DF2D-DAC9-4793-8A80-2E9AFBA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7FA810F6-A1C2-4959-98F8-D74DA12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9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0">
                <a:solidFill>
                  <a:srgbClr val="3D8DFF"/>
                </a:solidFill>
              </a:defRPr>
            </a:pPr>
            <a:r>
              <a:rPr sz="3000" b="0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68BFFDF1-D185-45BE-BBA2-F6E029C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num-0">
            <a:extLst xmlns:a="http://schemas.openxmlformats.org/drawingml/2006/main">
              <a:ext uri="{FF2B5EF4-FFF2-40B4-BE49-F238E27FC236}">
                <a16:creationId xmlns:a16="http://schemas.microsoft.com/office/drawing/2014/main" id="{BD7CBC70-A909-4A7E-929C-CCA10CED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01</a:t>
            </a:r>
          </a:p>
        </p:txBody>
      </p:sp>
      <p:sp>
        <p:nvSpPr>
          <p:cNvPr id="10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D4825A2B-2B57-4600-B068-0E90F31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Lock</a:t>
            </a:r>
          </a:p>
        </p:txBody>
      </p:sp>
      <p:sp>
        <p:nvSpPr>
          <p:cNvPr id="11" name="node-body-0">
            <a:extLst xmlns:a="http://schemas.openxmlformats.org/drawingml/2006/main">
              <a:ext uri="{FF2B5EF4-FFF2-40B4-BE49-F238E27FC236}">
                <a16:creationId xmlns:a16="http://schemas.microsoft.com/office/drawing/2014/main" id="{5F81852B-7035-41F5-9DC1-A35FCC9E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Sepolia vault emits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CollateralLocked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BE9321D7-71BB-4403-8B23-BD88C36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num-1">
            <a:extLst xmlns:a="http://schemas.openxmlformats.org/drawingml/2006/main">
              <a:ext uri="{FF2B5EF4-FFF2-40B4-BE49-F238E27FC236}">
                <a16:creationId xmlns:a16="http://schemas.microsoft.com/office/drawing/2014/main" id="{E9F6DF6F-7E58-4BF5-8757-889E386F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02</a:t>
            </a:r>
          </a:p>
        </p:txBody>
      </p:sp>
      <p:sp>
        <p:nvSpPr>
          <p:cNvPr id="14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0F0F804B-78E8-4851-9CDF-3415D559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Attest</a:t>
            </a:r>
          </a:p>
        </p:txBody>
      </p:sp>
      <p:sp>
        <p:nvSpPr>
          <p:cNvPr id="15" name="node-body-1">
            <a:extLst xmlns:a="http://schemas.openxmlformats.org/drawingml/2006/main">
              <a:ext uri="{FF2B5EF4-FFF2-40B4-BE49-F238E27FC236}">
                <a16:creationId xmlns:a16="http://schemas.microsoft.com/office/drawing/2014/main" id="{49F6DD18-DE78-4637-8F6E-953119D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Wait for height;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build official proof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D05C07D5-AD4E-485A-A675-588DB23C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ode-num-2">
            <a:extLst xmlns:a="http://schemas.openxmlformats.org/drawingml/2006/main">
              <a:ext uri="{FF2B5EF4-FFF2-40B4-BE49-F238E27FC236}">
                <a16:creationId xmlns:a16="http://schemas.microsoft.com/office/drawing/2014/main" id="{BB75AEA3-4A38-4679-BB73-52F9FDE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03</a:t>
            </a:r>
          </a:p>
        </p:txBody>
      </p:sp>
      <p:sp>
        <p:nvSpPr>
          <p:cNvPr id="18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DF38ACEA-30AE-4571-A359-75AA094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19" name="node-body-2">
            <a:extLst xmlns:a="http://schemas.openxmlformats.org/drawingml/2006/main">
              <a:ext uri="{FF2B5EF4-FFF2-40B4-BE49-F238E27FC236}">
                <a16:creationId xmlns:a16="http://schemas.microsoft.com/office/drawing/2014/main" id="{D12B1C55-B50E-4A97-8328-AE6C6ED2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0x0FD2 + exact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receipt/event policy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9DB5F30D-4066-42AD-9CAA-D755D5D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2669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ode-num-3">
            <a:extLst xmlns:a="http://schemas.openxmlformats.org/drawingml/2006/main">
              <a:ext uri="{FF2B5EF4-FFF2-40B4-BE49-F238E27FC236}">
                <a16:creationId xmlns:a16="http://schemas.microsoft.com/office/drawing/2014/main" id="{31ED6D55-B2CD-43ED-8F7C-472161C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5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22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9908F1F8-8921-4844-AC84-92B368D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Borrow</a:t>
            </a:r>
          </a:p>
        </p:txBody>
      </p:sp>
      <p:sp>
        <p:nvSpPr>
          <p:cNvPr id="23" name="node-body-3">
            <a:extLst xmlns:a="http://schemas.openxmlformats.org/drawingml/2006/main">
              <a:ext uri="{FF2B5EF4-FFF2-40B4-BE49-F238E27FC236}">
                <a16:creationId xmlns:a16="http://schemas.microsoft.com/office/drawing/2014/main" id="{0446B1E0-04B6-42D0-97B6-819BF5C0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90900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ASC opens 50%;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user signs the draw</a:t>
            </a:r>
          </a:p>
        </p:txBody>
      </p:sp>
      <p:sp>
        <p:nvSpPr>
          <p:cNvPr id="24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75186C8C-8569-4BA4-8D1E-9F67D85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The worker relays proof. It cannot manufacture credit.</a:t>
            </a:r>
          </a:p>
        </p:txBody>
      </p:sp>
    </p:spTree>
    <p:extLst>
      <p:ext uri="{BB962C8B-B14F-4D97-AF65-F5344CB8AC3E}">
        <p14:creationId xmlns:p14="http://schemas.microsoft.com/office/powerpoint/2010/main" val="2018994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4">
            <a:extLst xmlns:a="http://schemas.openxmlformats.org/drawingml/2006/main">
              <a:ext uri="{FF2B5EF4-FFF2-40B4-BE49-F238E27FC236}">
                <a16:creationId xmlns:a16="http://schemas.microsoft.com/office/drawing/2014/main" id="{A2F8CB15-D180-4E44-947F-72322F72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FAIL-CLOSED CONTROLS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7B7EBBD-C2ED-4D14-A6F4-F618F211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The safest line is the one that never opens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566D4DC4-D92D-423C-B40E-BCE2120C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E80C7156-4131-4F58-BE88-42DC0116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04</a:t>
            </a:r>
          </a:p>
        </p:txBody>
      </p:sp>
      <p:sp>
        <p:nvSpPr>
          <p:cNvPr id="5" name="zero-proof">
            <a:extLst xmlns:a="http://schemas.openxmlformats.org/drawingml/2006/main">
              <a:ext uri="{FF2B5EF4-FFF2-40B4-BE49-F238E27FC236}">
                <a16:creationId xmlns:a16="http://schemas.microsoft.com/office/drawing/2014/main" id="{2C70C6B5-65FF-4D19-A267-B5DBE50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450" b="1">
                <a:solidFill>
                  <a:srgbClr val="000000"/>
                </a:solidFill>
              </a:defRPr>
            </a:pPr>
            <a:r>
              <a:rPr sz="94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zero-caption">
            <a:extLst xmlns:a="http://schemas.openxmlformats.org/drawingml/2006/main">
              <a:ext uri="{FF2B5EF4-FFF2-40B4-BE49-F238E27FC236}">
                <a16:creationId xmlns:a16="http://schemas.microsoft.com/office/drawing/2014/main" id="{EFA1F1C4-4D20-4F83-9BE1-A82183BA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invalid proofs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become credit</a:t>
            </a:r>
          </a:p>
        </p:txBody>
      </p:sp>
      <p:sp>
        <p:nvSpPr>
          <p:cNvPr id="7" name="zero-accent">
            <a:extLst xmlns:a="http://schemas.openxmlformats.org/drawingml/2006/main">
              <a:ext uri="{FF2B5EF4-FFF2-40B4-BE49-F238E27FC236}">
                <a16:creationId xmlns:a16="http://schemas.microsoft.com/office/drawing/2014/main" id="{E4B9A8FC-5C66-4F6F-A62A-A7AD77BC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609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ol-rule-0">
            <a:extLst xmlns:a="http://schemas.openxmlformats.org/drawingml/2006/main">
              <a:ext uri="{FF2B5EF4-FFF2-40B4-BE49-F238E27FC236}">
                <a16:creationId xmlns:a16="http://schemas.microsoft.com/office/drawing/2014/main" id="{567BF1FE-C283-412D-A802-8BEA1595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rol-heading-0">
            <a:extLst xmlns:a="http://schemas.openxmlformats.org/drawingml/2006/main">
              <a:ext uri="{FF2B5EF4-FFF2-40B4-BE49-F238E27FC236}">
                <a16:creationId xmlns:a16="http://schemas.microsoft.com/office/drawing/2014/main" id="{06F61A8D-C793-4DEF-826B-E3E3868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Receipt</a:t>
            </a:r>
          </a:p>
        </p:txBody>
      </p:sp>
      <p:sp>
        <p:nvSpPr>
          <p:cNvPr id="10" name="control-detail-0">
            <a:extLst xmlns:a="http://schemas.openxmlformats.org/drawingml/2006/main">
              <a:ext uri="{FF2B5EF4-FFF2-40B4-BE49-F238E27FC236}">
                <a16:creationId xmlns:a16="http://schemas.microsoft.com/office/drawing/2014/main" id="{C4D090E4-62E4-4FD0-9977-75E1D64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status = 1</a:t>
            </a:r>
          </a:p>
        </p:txBody>
      </p:sp>
      <p:sp>
        <p:nvSpPr>
          <p:cNvPr id="11" name="control-rule-1">
            <a:extLst xmlns:a="http://schemas.openxmlformats.org/drawingml/2006/main">
              <a:ext uri="{FF2B5EF4-FFF2-40B4-BE49-F238E27FC236}">
                <a16:creationId xmlns:a16="http://schemas.microsoft.com/office/drawing/2014/main" id="{499591F0-62A4-4FAD-82FE-7E8AE3D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rol-heading-1">
            <a:extLst xmlns:a="http://schemas.openxmlformats.org/drawingml/2006/main">
              <a:ext uri="{FF2B5EF4-FFF2-40B4-BE49-F238E27FC236}">
                <a16:creationId xmlns:a16="http://schemas.microsoft.com/office/drawing/2014/main" id="{87478F5C-63B6-4A61-A717-65FFE1F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Origin</a:t>
            </a:r>
          </a:p>
        </p:txBody>
      </p:sp>
      <p:sp>
        <p:nvSpPr>
          <p:cNvPr id="13" name="control-detail-1">
            <a:extLst xmlns:a="http://schemas.openxmlformats.org/drawingml/2006/main">
              <a:ext uri="{FF2B5EF4-FFF2-40B4-BE49-F238E27FC236}">
                <a16:creationId xmlns:a16="http://schemas.microsoft.com/office/drawing/2014/main" id="{3FAC37AC-76DF-41E9-A3E3-C426BA0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chainKey = 1</a:t>
            </a:r>
          </a:p>
        </p:txBody>
      </p:sp>
      <p:sp>
        <p:nvSpPr>
          <p:cNvPr id="14" name="control-rule-2">
            <a:extLst xmlns:a="http://schemas.openxmlformats.org/drawingml/2006/main">
              <a:ext uri="{FF2B5EF4-FFF2-40B4-BE49-F238E27FC236}">
                <a16:creationId xmlns:a16="http://schemas.microsoft.com/office/drawing/2014/main" id="{2DF1A08F-424D-4FA0-BB9A-96E2A57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rol-heading-2">
            <a:extLst xmlns:a="http://schemas.openxmlformats.org/drawingml/2006/main">
              <a:ext uri="{FF2B5EF4-FFF2-40B4-BE49-F238E27FC236}">
                <a16:creationId xmlns:a16="http://schemas.microsoft.com/office/drawing/2014/main" id="{9E94DF5F-296A-4799-BDE0-9BB3155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Event</a:t>
            </a:r>
          </a:p>
        </p:txBody>
      </p:sp>
      <p:sp>
        <p:nvSpPr>
          <p:cNvPr id="16" name="control-detail-2">
            <a:extLst xmlns:a="http://schemas.openxmlformats.org/drawingml/2006/main">
              <a:ext uri="{FF2B5EF4-FFF2-40B4-BE49-F238E27FC236}">
                <a16:creationId xmlns:a16="http://schemas.microsoft.com/office/drawing/2014/main" id="{AF4FEC19-0B5D-445C-81CF-B8BD695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exact vault + token</a:t>
            </a:r>
          </a:p>
        </p:txBody>
      </p:sp>
      <p:sp>
        <p:nvSpPr>
          <p:cNvPr id="17" name="control-rule-3">
            <a:extLst xmlns:a="http://schemas.openxmlformats.org/drawingml/2006/main">
              <a:ext uri="{FF2B5EF4-FFF2-40B4-BE49-F238E27FC236}">
                <a16:creationId xmlns:a16="http://schemas.microsoft.com/office/drawing/2014/main" id="{E3A010FB-7E59-4ECF-BE4A-348A5FD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rol-heading-3">
            <a:extLst xmlns:a="http://schemas.openxmlformats.org/drawingml/2006/main">
              <a:ext uri="{FF2B5EF4-FFF2-40B4-BE49-F238E27FC236}">
                <a16:creationId xmlns:a16="http://schemas.microsoft.com/office/drawing/2014/main" id="{2831D4C5-0EA4-4A9B-9996-7DCE7970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Economics</a:t>
            </a:r>
          </a:p>
        </p:txBody>
      </p:sp>
      <p:sp>
        <p:nvSpPr>
          <p:cNvPr id="19" name="control-detail-3">
            <a:extLst xmlns:a="http://schemas.openxmlformats.org/drawingml/2006/main">
              <a:ext uri="{FF2B5EF4-FFF2-40B4-BE49-F238E27FC236}">
                <a16:creationId xmlns:a16="http://schemas.microsoft.com/office/drawing/2014/main" id="{82DFB49F-ADAC-4C39-AD92-AE5ADCC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861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≥100 mUSDC · 8d cover</a:t>
            </a:r>
          </a:p>
        </p:txBody>
      </p:sp>
      <p:sp>
        <p:nvSpPr>
          <p:cNvPr id="20" name="control-rule-4">
            <a:extLst xmlns:a="http://schemas.openxmlformats.org/drawingml/2006/main">
              <a:ext uri="{FF2B5EF4-FFF2-40B4-BE49-F238E27FC236}">
                <a16:creationId xmlns:a16="http://schemas.microsoft.com/office/drawing/2014/main" id="{F6FB8087-8A67-41CD-A807-711CD4F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trol-heading-4">
            <a:extLst xmlns:a="http://schemas.openxmlformats.org/drawingml/2006/main">
              <a:ext uri="{FF2B5EF4-FFF2-40B4-BE49-F238E27FC236}">
                <a16:creationId xmlns:a16="http://schemas.microsoft.com/office/drawing/2014/main" id="{78EA5028-C62F-40C8-8E0E-4077CAE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22" name="control-detail-4">
            <a:extLst xmlns:a="http://schemas.openxmlformats.org/drawingml/2006/main">
              <a:ext uri="{FF2B5EF4-FFF2-40B4-BE49-F238E27FC236}">
                <a16:creationId xmlns:a16="http://schemas.microsoft.com/office/drawing/2014/main" id="{0CF79D2E-865E-45E9-80A1-9963800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query ID + lock ID</a:t>
            </a:r>
          </a:p>
        </p:txBody>
      </p:sp>
      <p:sp>
        <p:nvSpPr>
          <p:cNvPr id="23" name="control-rule-5">
            <a:extLst xmlns:a="http://schemas.openxmlformats.org/drawingml/2006/main">
              <a:ext uri="{FF2B5EF4-FFF2-40B4-BE49-F238E27FC236}">
                <a16:creationId xmlns:a16="http://schemas.microsoft.com/office/drawing/2014/main" id="{D711FA8C-C59B-4CE2-976A-AEB7F2F0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257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trol-heading-5">
            <a:extLst xmlns:a="http://schemas.openxmlformats.org/drawingml/2006/main">
              <a:ext uri="{FF2B5EF4-FFF2-40B4-BE49-F238E27FC236}">
                <a16:creationId xmlns:a16="http://schemas.microsoft.com/office/drawing/2014/main" id="{EE859F29-8095-472C-AFC9-0BDEABA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Funds</a:t>
            </a:r>
          </a:p>
        </p:txBody>
      </p:sp>
      <p:sp>
        <p:nvSpPr>
          <p:cNvPr id="25" name="control-detail-5">
            <a:extLst xmlns:a="http://schemas.openxmlformats.org/drawingml/2006/main">
              <a:ext uri="{FF2B5EF4-FFF2-40B4-BE49-F238E27FC236}">
                <a16:creationId xmlns:a16="http://schemas.microsoft.com/office/drawing/2014/main" id="{47E312A8-8B32-434B-84EE-72E3F6D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borrower signature</a:t>
            </a:r>
          </a:p>
        </p:txBody>
      </p:sp>
      <p:sp>
        <p:nvSpPr>
          <p:cNvPr id="26" name="refusal-callout">
            <a:extLst xmlns:a="http://schemas.openxmlformats.org/drawingml/2006/main">
              <a:ext uri="{FF2B5EF4-FFF2-40B4-BE49-F238E27FC236}">
                <a16:creationId xmlns:a16="http://schemas.microsoft.com/office/drawing/2014/main" id="{0BE127EF-9F02-4BA2-AF83-11E2D3AB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61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Junk refused. Native tamper + replay reverted.</a:t>
            </a:r>
          </a:p>
        </p:txBody>
      </p:sp>
    </p:spTree>
    <p:extLst>
      <p:ext uri="{BB962C8B-B14F-4D97-AF65-F5344CB8AC3E}">
        <p14:creationId xmlns:p14="http://schemas.microsoft.com/office/powerpoint/2010/main" val="1004191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06945EFC-9C34-4250-B660-6C45DC9A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EXECUTION PROOF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BED8D08-EDC4-4CBA-8DD4-5A1DDAE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Native proof. Bounded credit. Public receipts.</a:t>
            </a:r>
          </a:p>
        </p:txBody>
      </p:sp>
      <p:sp>
        <p:nvSpPr>
          <p:cNvPr id="3" name="top-rule-5">
            <a:extLst xmlns:a="http://schemas.openxmlformats.org/drawingml/2006/main">
              <a:ext uri="{FF2B5EF4-FFF2-40B4-BE49-F238E27FC236}">
                <a16:creationId xmlns:a16="http://schemas.microsoft.com/office/drawing/2014/main" id="{3BB3BB89-A214-4471-A424-5D264A8F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603C460-0803-498D-B667-6D0AE950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341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570"/>
                </a:solidFill>
              </a:defRPr>
            </a:pPr>
            <a:r>
              <a:rPr sz="975" b="0">
                <a:solidFill>
                  <a:srgbClr val="5E6570"/>
                </a:solidFill>
              </a:rPr>
              <a:t>05</a:t>
            </a:r>
          </a:p>
        </p:txBody>
      </p:sp>
      <p:sp>
        <p:nvSpPr>
          <p:cNvPr id="6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99F616CA-5E7A-47BF-AF9C-351D175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9433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5154FA73-2CC9-4898-B925-5CA5261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57F5B"/>
                </a:solidFill>
              </a:defRPr>
            </a:pPr>
            <a:r>
              <a:rPr sz="1125" b="1">
                <a:solidFill>
                  <a:srgbClr val="157F5B"/>
                </a:solidFill>
              </a:rPr>
              <a:t>BORROWER-SIGNED DRAW</a:t>
            </a:r>
          </a:p>
        </p:txBody>
      </p:sp>
      <p:sp>
        <p:nvSpPr>
          <p:cNvPr id="8" name="test-count">
            <a:extLst xmlns:a="http://schemas.openxmlformats.org/drawingml/2006/main">
              <a:ext uri="{FF2B5EF4-FFF2-40B4-BE49-F238E27FC236}">
                <a16:creationId xmlns:a16="http://schemas.microsoft.com/office/drawing/2014/main" id="{F9EBAE99-90BA-4D3C-AADA-9FBDD0D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50</a:t>
            </a:r>
          </a:p>
        </p:txBody>
      </p:sp>
      <p:sp>
        <p:nvSpPr>
          <p:cNvPr id="9" name="test-caption">
            <a:extLst xmlns:a="http://schemas.openxmlformats.org/drawingml/2006/main">
              <a:ext uri="{FF2B5EF4-FFF2-40B4-BE49-F238E27FC236}">
                <a16:creationId xmlns:a16="http://schemas.microsoft.com/office/drawing/2014/main" id="{68BC0270-288B-448E-A6C0-627615AB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mUSD received</a:t>
            </a:r>
          </a:p>
        </p:txBody>
      </p:sp>
      <p:sp>
        <p:nvSpPr>
          <p:cNvPr id="10" name="verified-list">
            <a:extLst xmlns:a="http://schemas.openxmlformats.org/drawingml/2006/main">
              <a:ext uri="{FF2B5EF4-FFF2-40B4-BE49-F238E27FC236}">
                <a16:creationId xmlns:a16="http://schemas.microsoft.com/office/drawing/2014/main" id="{5C87A048-279B-4A32-A4A8-308E6D3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Block 5,434,865 · 141,434 gas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50 borrowed − 0 repaid = 50 debt</a:t>
            </a:r>
          </a:p>
        </p:txBody>
      </p:sp>
      <p:sp>
        <p:nvSpPr>
          <p:cNvPr id="11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D04F6BAE-E87A-4421-B3A6-06CC3DA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ve-label">
            <a:extLst xmlns:a="http://schemas.openxmlformats.org/drawingml/2006/main">
              <a:ext uri="{FF2B5EF4-FFF2-40B4-BE49-F238E27FC236}">
                <a16:creationId xmlns:a16="http://schemas.microsoft.com/office/drawing/2014/main" id="{728F90AC-7F2A-421A-B836-522F9B1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6700"/>
                </a:solidFill>
              </a:defRPr>
            </a:pPr>
            <a:r>
              <a:rPr sz="1125" b="1">
                <a:solidFill>
                  <a:srgbClr val="9A6700"/>
                </a:solidFill>
              </a:rPr>
              <a:t>STILL PENDING</a:t>
            </a:r>
          </a:p>
        </p:txBody>
      </p:sp>
      <p:sp>
        <p:nvSpPr>
          <p:cNvPr id="13" name="live-list">
            <a:extLst xmlns:a="http://schemas.openxmlformats.org/drawingml/2006/main">
              <a:ext uri="{FF2B5EF4-FFF2-40B4-BE49-F238E27FC236}">
                <a16:creationId xmlns:a16="http://schemas.microsoft.com/office/drawing/2014/main" id="{745F18A8-78FB-442D-90E8-4B0C567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Full browser flow · maturity repay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Public videos · submission checks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00050" y="2057400"/>
          <a:ext xmlns:a="http://schemas.openxmlformats.org/drawingml/2006/main" cx="706755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3100"/>
                <a:gridCol w="2438400"/>
                <a:gridCol w="2686050"/>
              </a:tblGrid>
              <a:tr h="64389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PUBLIC EVIDENCE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77FEF"/>
                          </a:solidFill>
                          <a:latin typeface="Calibri"/>
                          <a:ea typeface="Calibri"/>
                          <a:cs typeface="Calibri"/>
                        </a:rPr>
                        <a:t>CHAIN BLOCK</a:t>
                      </a:r>
                    </a:p>
                  </a:txBody>
                  <a:tcPr marL="133350" marR="114300" marT="114300" marB="114300">
                    <a:solidFill>
                      <a:srgbClr val="D6F0FC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Sepolia escrow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100 mUSDC locked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11,639,758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Native 0x0FD2 proof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50 mUSD credit line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5,434,496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Tampered proof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Unused query · reverted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5,434,321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Identical query replay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Unchanged state · reverted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5,434,507</a:t>
                      </a:r>
                    </a:p>
                  </a:txBody>
                  <a:tcPr marL="133350" marR="1143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A9E58-CC4D-4845-B4C7-A0E361D1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681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Native proof: 350,379 gas · 59.6s queue → final after attestation</a:t>
            </a:r>
          </a:p>
          <a:p xmlns:a="http://schemas.openxmlformats.org/drawingml/2006/main">
            <a:pPr>
              <a:buNone/>
              <a:defRPr sz="1275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Draw: 0xb631739d…e684dba4 · 5 Sep 2026 · LIVE_TESTNET.md</a:t>
            </a:r>
          </a:p>
        </p:txBody>
      </p:sp>
    </p:spTree>
    <p:extLst>
      <p:ext uri="{BB962C8B-B14F-4D97-AF65-F5344CB8AC3E}">
        <p14:creationId xmlns:p14="http://schemas.microsoft.com/office/powerpoint/2010/main" val="1935864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admap-eyebrow">
            <a:extLst xmlns:a="http://schemas.openxmlformats.org/drawingml/2006/main">
              <a:ext uri="{FF2B5EF4-FFF2-40B4-BE49-F238E27FC236}">
                <a16:creationId xmlns:a16="http://schemas.microsoft.com/office/drawing/2014/main" id="{75412D1F-2C67-413D-89CC-32E8A4D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E6570"/>
                </a:solidFill>
              </a:defRPr>
            </a:pPr>
            <a:r>
              <a:rPr sz="1050" b="1">
                <a:solidFill>
                  <a:srgbClr val="5E6570"/>
                </a:solidFill>
              </a:rPr>
              <a:t>MARKET → CREDITCOIN ECOSYSTEM</a:t>
            </a:r>
          </a:p>
        </p:txBody>
      </p:sp>
      <p:sp>
        <p:nvSpPr>
          <p:cNvPr id="2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1BB427DF-5832-4458-AC1D-90FC509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962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Risk teams first.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Proof-gated credit for Creditcoin.</a:t>
            </a:r>
          </a:p>
        </p:txBody>
      </p:sp>
      <p:sp>
        <p:nvSpPr>
          <p:cNvPr id="3" name="roadmap-stage-0">
            <a:extLst xmlns:a="http://schemas.openxmlformats.org/drawingml/2006/main">
              <a:ext uri="{FF2B5EF4-FFF2-40B4-BE49-F238E27FC236}">
                <a16:creationId xmlns:a16="http://schemas.microsoft.com/office/drawing/2014/main" id="{7FBB6141-B355-4CE1-BF79-9A6C837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admap-when-0">
            <a:extLst xmlns:a="http://schemas.openxmlformats.org/drawingml/2006/main">
              <a:ext uri="{FF2B5EF4-FFF2-40B4-BE49-F238E27FC236}">
                <a16:creationId xmlns:a16="http://schemas.microsoft.com/office/drawing/2014/main" id="{1B823668-9D48-4914-AAE8-9C128D9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TARGET</a:t>
            </a:r>
          </a:p>
        </p:txBody>
      </p:sp>
      <p:sp>
        <p:nvSpPr>
          <p:cNvPr id="5" name="roadmap-heading-0">
            <a:extLst xmlns:a="http://schemas.openxmlformats.org/drawingml/2006/main">
              <a:ext uri="{FF2B5EF4-FFF2-40B4-BE49-F238E27FC236}">
                <a16:creationId xmlns:a16="http://schemas.microsoft.com/office/drawing/2014/main" id="{54945AE9-C123-4F67-A48D-14BC020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Lenders + risk teams</a:t>
            </a:r>
          </a:p>
        </p:txBody>
      </p:sp>
      <p:sp>
        <p:nvSpPr>
          <p:cNvPr id="6" name="roadmap-body-0">
            <a:extLst xmlns:a="http://schemas.openxmlformats.org/drawingml/2006/main">
              <a:ext uri="{FF2B5EF4-FFF2-40B4-BE49-F238E27FC236}">
                <a16:creationId xmlns:a16="http://schemas.microsoft.com/office/drawing/2014/main" id="{EAFA4D3F-CB5C-4C1E-B618-58CECDD3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Escrow facts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E6570"/>
                </a:solidFill>
              </a:defRPr>
            </a:pPr>
            <a:r>
              <a:rPr sz="1350" b="0">
                <a:solidFill>
                  <a:srgbClr val="5E6570"/>
                </a:solidFill>
              </a:rPr>
              <a:t>without bridging</a:t>
            </a:r>
          </a:p>
        </p:txBody>
      </p:sp>
      <p:sp>
        <p:nvSpPr>
          <p:cNvPr id="7" name="roadmap-stage-1">
            <a:extLst xmlns:a="http://schemas.openxmlformats.org/drawingml/2006/main">
              <a:ext uri="{FF2B5EF4-FFF2-40B4-BE49-F238E27FC236}">
                <a16:creationId xmlns:a16="http://schemas.microsoft.com/office/drawing/2014/main" id="{94790413-EFA2-498E-A99F-AACE27C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when-1">
            <a:extLst xmlns:a="http://schemas.openxmlformats.org/drawingml/2006/main">
              <a:ext uri="{FF2B5EF4-FFF2-40B4-BE49-F238E27FC236}">
                <a16:creationId xmlns:a16="http://schemas.microsoft.com/office/drawing/2014/main" id="{651E7183-E254-4DA5-A225-9CEC370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DISTRIBUTE</a:t>
            </a:r>
          </a:p>
        </p:txBody>
      </p:sp>
      <p:sp>
        <p:nvSpPr>
          <p:cNvPr id="9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BB724828-F4F4-4C90-842D-955332E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5-minute setup</a:t>
            </a:r>
          </a:p>
        </p:txBody>
      </p:sp>
      <p:sp>
        <p:nvSpPr>
          <p:cNvPr id="10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75BED92D-C4BA-4E56-AFDB-F1A9B46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API + event schema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Attestation time varies</a:t>
            </a:r>
          </a:p>
        </p:txBody>
      </p:sp>
      <p:sp>
        <p:nvSpPr>
          <p:cNvPr id="11" name="roadmap-stage-2">
            <a:extLst xmlns:a="http://schemas.openxmlformats.org/drawingml/2006/main">
              <a:ext uri="{FF2B5EF4-FFF2-40B4-BE49-F238E27FC236}">
                <a16:creationId xmlns:a16="http://schemas.microsoft.com/office/drawing/2014/main" id="{4DCA8A2A-ECB2-4B88-8EAA-404A0F1F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333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when-2">
            <a:extLst xmlns:a="http://schemas.openxmlformats.org/drawingml/2006/main">
              <a:ext uri="{FF2B5EF4-FFF2-40B4-BE49-F238E27FC236}">
                <a16:creationId xmlns:a16="http://schemas.microsoft.com/office/drawing/2014/main" id="{1DCE7213-6EC8-450D-B8E5-0D63DFB7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6570"/>
                </a:solidFill>
              </a:defRPr>
            </a:pPr>
            <a:r>
              <a:rPr sz="1125" b="1">
                <a:solidFill>
                  <a:srgbClr val="5E6570"/>
                </a:solidFill>
              </a:rPr>
              <a:t>EXPAND</a:t>
            </a:r>
          </a:p>
        </p:txBody>
      </p:sp>
      <p:sp>
        <p:nvSpPr>
          <p:cNvPr id="13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867CF1A4-BA53-44BE-B1F8-B57DF3E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Reusable profile</a:t>
            </a:r>
          </a:p>
        </p:txBody>
      </p:sp>
      <p:sp>
        <p:nvSpPr>
          <p:cNvPr id="14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2961819-C741-46C8-A660-1DD07F4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Proof-opened accounting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C6675"/>
                </a:solidFill>
                <a:latin typeface="Calibri"/>
                <a:ea typeface="Calibri"/>
                <a:cs typeface="Calibri"/>
              </a:rPr>
              <a:t>No liquidation or release</a:t>
            </a:r>
          </a:p>
        </p:txBody>
      </p:sp>
      <p:sp>
        <p:nvSpPr>
          <p:cNvPr id="15" name="roadmap-url">
            <a:extLst xmlns:a="http://schemas.openxmlformats.org/drawingml/2006/main">
              <a:ext uri="{FF2B5EF4-FFF2-40B4-BE49-F238E27FC236}">
                <a16:creationId xmlns:a16="http://schemas.microsoft.com/office/drawing/2014/main" id="{E55C27EB-677F-4F38-ADB6-B59CF75A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Solo builder · contracts, worker, web</a:t>
            </a:r>
          </a:p>
        </p:txBody>
      </p:sp>
      <p:sp>
        <p:nvSpPr>
          <p:cNvPr id="16" name="roadmap-repo">
            <a:extLst xmlns:a="http://schemas.openxmlformats.org/drawingml/2006/main">
              <a:ext uri="{FF2B5EF4-FFF2-40B4-BE49-F238E27FC236}">
                <a16:creationId xmlns:a16="http://schemas.microsoft.com/office/drawing/2014/main" id="{414C4B5E-B2C8-457E-9BFA-DF62657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24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E6570"/>
                </a:solidFill>
              </a:defRPr>
            </a:pPr>
            <a:r>
              <a:rPr sz="1500" b="0">
                <a:solidFill>
                  <a:srgbClr val="5E6570"/>
                </a:solidFill>
              </a:rPr>
              <a:t>Public proof + code →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d6e46a2524375"/>
          <a:stretch xmlns:a="http://schemas.openxmlformats.org/drawingml/2006/main"/>
        </p:blipFill>
        <p:spPr>
          <a:xfrm xmlns:a="http://schemas.openxmlformats.org/drawingml/2006/main">
            <a:off x="10420350" y="5238750"/>
            <a:ext cx="1257300" cy="1257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5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2026-09-05T13:30:43.1720000Z</dcterms:created>
  <dcterms:modified xsi:type="dcterms:W3CDTF">2026-09-05T13:30:43.1720000Z</dcterms:modified>
</coreProperties>
</file>